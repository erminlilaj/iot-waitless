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957bd68c14aff" /><Relationship Type="http://schemas.openxmlformats.org/officeDocument/2006/relationships/extended-properties" Target="/docProps/app.xml" Id="Rd2e88671b2f1459b" /><Relationship Type="http://schemas.openxmlformats.org/officeDocument/2006/relationships/officeDocument" Target="/ppt/presentation.xml" Id="Rb4238364f4fe4d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3fa09b289b42a3"/>
  </p:sldMasterIdLst>
  <p:notesMasterIdLst>
    <p:notesMasterId xmlns:r="http://schemas.openxmlformats.org/officeDocument/2006/relationships" r:id="R2f69bf9632b242bb"/>
  </p:notesMasterIdLst>
  <p:sldIdLst>
    <p:sldId xmlns:r="http://schemas.openxmlformats.org/officeDocument/2006/relationships" id="256" r:id="R7a2c8a9fd79b4f58"/>
    <p:sldId xmlns:r="http://schemas.openxmlformats.org/officeDocument/2006/relationships" id="257" r:id="R3b42d928113b4c4e"/>
    <p:sldId xmlns:r="http://schemas.openxmlformats.org/officeDocument/2006/relationships" id="258" r:id="Rdec1c92f6c5448c5"/>
    <p:sldId xmlns:r="http://schemas.openxmlformats.org/officeDocument/2006/relationships" id="259" r:id="Rdc13c74c5e634bfb"/>
    <p:sldId xmlns:r="http://schemas.openxmlformats.org/officeDocument/2006/relationships" id="260" r:id="Rfba631281e624437"/>
    <p:sldId xmlns:r="http://schemas.openxmlformats.org/officeDocument/2006/relationships" id="261" r:id="R8423aee80b98476f"/>
    <p:sldId xmlns:r="http://schemas.openxmlformats.org/officeDocument/2006/relationships" id="262" r:id="Rfcbda9a2690d445e"/>
    <p:sldId xmlns:r="http://schemas.openxmlformats.org/officeDocument/2006/relationships" id="263" r:id="R06bc6bb082d843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fa09b289b42a3" /><Relationship Type="http://schemas.openxmlformats.org/officeDocument/2006/relationships/theme" Target="/ppt/theme/theme1.xml" Id="R66c89151f8c94da5" /><Relationship Type="http://schemas.openxmlformats.org/officeDocument/2006/relationships/notesMaster" Target="/ppt/notesMasters/notesMaster1.xml" Id="R2f69bf9632b242bb" /><Relationship Type="http://schemas.openxmlformats.org/officeDocument/2006/relationships/presProps" Target="/ppt/presProps.xml" Id="Ra8b94760d78b4a82" /><Relationship Type="http://schemas.openxmlformats.org/officeDocument/2006/relationships/viewProps" Target="/ppt/viewProps.xml" Id="R7b472c53938e43cc" /><Relationship Type="http://schemas.openxmlformats.org/officeDocument/2006/relationships/tableStyles" Target="/ppt/tableStyles.xml" Id="R28a1587479254e6d" /><Relationship Type="http://schemas.openxmlformats.org/officeDocument/2006/relationships/slide" Target="/ppt/slides/slide1.xml" Id="R7a2c8a9fd79b4f58" /><Relationship Type="http://schemas.openxmlformats.org/officeDocument/2006/relationships/slide" Target="/ppt/slides/slide2.xml" Id="R3b42d928113b4c4e" /><Relationship Type="http://schemas.openxmlformats.org/officeDocument/2006/relationships/slide" Target="/ppt/slides/slide3.xml" Id="Rdec1c92f6c5448c5" /><Relationship Type="http://schemas.openxmlformats.org/officeDocument/2006/relationships/slide" Target="/ppt/slides/slide4.xml" Id="Rdc13c74c5e634bfb" /><Relationship Type="http://schemas.openxmlformats.org/officeDocument/2006/relationships/slide" Target="/ppt/slides/slide5.xml" Id="Rfba631281e624437" /><Relationship Type="http://schemas.openxmlformats.org/officeDocument/2006/relationships/slide" Target="/ppt/slides/slide6.xml" Id="R8423aee80b98476f" /><Relationship Type="http://schemas.openxmlformats.org/officeDocument/2006/relationships/slide" Target="/ppt/slides/slide7.xml" Id="Rfcbda9a2690d445e" /><Relationship Type="http://schemas.openxmlformats.org/officeDocument/2006/relationships/slide" Target="/ppt/slides/slide8.xml" Id="R06bc6bb082d8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360607699c54e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679d42e164b01" /><Relationship Type="http://schemas.openxmlformats.org/officeDocument/2006/relationships/notesMaster" Target="/ppt/notesMasters/notesMaster1.xml" Id="R9ddcf8086b4347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456d005cd84beb" /><Relationship Type="http://schemas.openxmlformats.org/officeDocument/2006/relationships/notesMaster" Target="/ppt/notesMasters/notesMaster1.xml" Id="Rc9f4bf8ef747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8aeed82c24a13" /><Relationship Type="http://schemas.openxmlformats.org/officeDocument/2006/relationships/notesMaster" Target="/ppt/notesMasters/notesMaster1.xml" Id="Rcb424f3d3d514d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3a5675fbaa4abb" /><Relationship Type="http://schemas.openxmlformats.org/officeDocument/2006/relationships/notesMaster" Target="/ppt/notesMasters/notesMaster1.xml" Id="R586569edf9f44c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39b940f8a4ffd" /><Relationship Type="http://schemas.openxmlformats.org/officeDocument/2006/relationships/notesMaster" Target="/ppt/notesMasters/notesMaster1.xml" Id="R563ed5b8ffb840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81398645824b76" /><Relationship Type="http://schemas.openxmlformats.org/officeDocument/2006/relationships/notesMaster" Target="/ppt/notesMasters/notesMaster1.xml" Id="R2514b976298745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9c32878bdd45a3" /><Relationship Type="http://schemas.openxmlformats.org/officeDocument/2006/relationships/notesMaster" Target="/ppt/notesMasters/notesMaster1.xml" Id="R0d4e650b190f48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f96d8b762c45fe" /><Relationship Type="http://schemas.openxmlformats.org/officeDocument/2006/relationships/notesMaster" Target="/ppt/notesMasters/notesMaster1.xml" Id="R645cb96894d643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4402a559f488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cbf18c4d30c4444" /><Relationship Type="http://schemas.openxmlformats.org/officeDocument/2006/relationships/slideLayout" Target="/ppt/slideLayouts/slideLayout2.xml" Id="R8bd75353aed244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d75353aed2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84af47d72b4670" /><Relationship Type="http://schemas.openxmlformats.org/officeDocument/2006/relationships/notesSlide" Target="/ppt/notesSlides/notesSlide1.xml" Id="R748e974e001347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4cf223e29348fd" /><Relationship Type="http://schemas.openxmlformats.org/officeDocument/2006/relationships/notesSlide" Target="/ppt/notesSlides/notesSlide2.xml" Id="Re0c31410b51541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605d7fb40a4359" /><Relationship Type="http://schemas.openxmlformats.org/officeDocument/2006/relationships/notesSlide" Target="/ppt/notesSlides/notesSlide3.xml" Id="R332487aa58a848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c65d326ccc4141" /><Relationship Type="http://schemas.openxmlformats.org/officeDocument/2006/relationships/notesSlide" Target="/ppt/notesSlides/notesSlide4.xml" Id="Rb1e4c02168184f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7af74713094cd3" /><Relationship Type="http://schemas.openxmlformats.org/officeDocument/2006/relationships/notesSlide" Target="/ppt/notesSlides/notesSlide5.xml" Id="Reea890b2716347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b506e37da24699" /><Relationship Type="http://schemas.openxmlformats.org/officeDocument/2006/relationships/notesSlide" Target="/ppt/notesSlides/notesSlide6.xml" Id="Rf3a1c1346df644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395657f4244b36" /><Relationship Type="http://schemas.openxmlformats.org/officeDocument/2006/relationships/notesSlide" Target="/ppt/notesSlides/notesSlide7.xml" Id="Rcfd2089500b148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3b020875904ee0" /><Relationship Type="http://schemas.openxmlformats.org/officeDocument/2006/relationships/image" Target="/ppt/media/image.png" Id="Rb00e914a3e8e44c3" /><Relationship Type="http://schemas.openxmlformats.org/officeDocument/2006/relationships/notesSlide" Target="/ppt/notesSlides/notesSlide8.xml" Id="R46ab24c19baa46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7B91E7-AA27-4BCE-A7CD-621641B4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5993F-8441-4CC3-BD02-76F2618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472DD-3B8D-4B23-9CB0-EF7FDCC7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B4E51-8A20-41EB-87F3-A62E0CCD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{ 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87F4B-65BC-49A2-8E80-D44A7971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49700-7914-48E3-8D88-838365DA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F6A57-9EEB-42C4-B2BB-7C57634A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10B9C-020F-4FC9-958E-C6CBFEBB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CCC68-B9A8-49AC-A623-F9C62A98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general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C155E-292E-46FF-8F6B-D38AC094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Software is a pipeline from sensing to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66E85-33E6-4A26-82B1-C2F1BE96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code is not only a simulator: firmware, shared logic, logging tools, and replay all use the same data 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81B18-15F4-44E9-8392-7E0BC04C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9A971-DF22-4BF5-BD2F-C17CBE27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Sensors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B79B9-D239-45AB-B2C5-AB8CE57B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4 ultrasonic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far + near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996EF-11E8-41D6-96C6-C030A081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1FCBE-4CAB-4D2F-9DB7-E6312EF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8D319-F6F7-436F-84F7-FCB626D3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Firmware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30702-1146-4900-8AF9-2FC64B0F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A + Node B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 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A2E83-8D9F-4073-AB9D-98A799EA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82212-4B15-4C0A-97F6-C2F2DF66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F29BE-239F-4B2A-8205-B2550D4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Shared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D18D8-4211-43F6-848C-12BEBA0B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sensing, queue,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controller, packets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6DDD7-9D75-44F1-9475-C969AD36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16B3D-9F63-46D8-8174-4145661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FAC1E-440A-4567-BDA7-6ECBF892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Logger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9AD964-4996-4CBB-A066-1753A244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B STATUS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saved 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0D8F7-3EB9-4137-BF14-636B6CA6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796BC2-DA25-4B5C-9BCE-2207BC2C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7A20D9-E5D3-4936-A622-82BE6043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C4A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46F9A9-7D1F-4097-9883-9A74CE1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TP/TN/FP/FN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stale + energy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9C24E-2584-4AF0-A9F2-0CEC111C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218DF2-6360-420D-A33E-BDA6BFC9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3F216E-940F-4895-8864-6DC8AF7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Simulator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18C53A-3BD5-412F-B524-A8318BF3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CSV replay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digital twin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E007A-98C2-410C-9E4E-F86E0F01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35CB7D-7029-4D88-A89C-A008B1B2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Repository structure used in the software slides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837466-1C9F-4718-A729-3F033D80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8196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firmware/node_a/main.cpp       // Side A sensing + LoRa TX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firmware/node_b/main.cpp       // Side B sensing + control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lib/traffic_control/           // shared logic used by both nodes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tools/road_data_logger.py      // live serial -&gt; CSV evidence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tools/final_evidence_report.py // metrics and report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simulation/visual_simulator.py // CSV replay / digital twin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E964C3-DEFD-4EE0-8948-DAB456D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B6303B-CB2E-46BA-920F-31EFA34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9D8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A9D8F"/>
                </a:solidFill>
                <a:latin typeface="Georgia"/>
                <a:ea typeface="Georgia"/>
                <a:cs typeface="Georgia"/>
              </a:rPr>
              <a:t>What this proves to the professor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0E7D1D-C287-4D48-B5E5-4E1B0C9D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438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sensor readings are converted into queue states.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A and Node B communicate through LoRa packets.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B makes the final light decision locally.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The same live log becomes CSV, metrics, graphs, and simulator replay.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Improvements are visible in code: filtering, stale handling, emergency, energy logging.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80E13D-4272-4E93-B78C-C9FF6DD5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each later slide zooms into one layer of this pipeline, then shows how we improved it after testing.</a:t>
            </a:r>
          </a:p>
        </p:txBody>
      </p:sp>
    </p:spTree>
    <p:extLst>
      <p:ext uri="{BB962C8B-B14F-4D97-AF65-F5344CB8AC3E}">
        <p14:creationId xmlns:p14="http://schemas.microsoft.com/office/powerpoint/2010/main" val="7845729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1B862F-EEA3-4330-B2A5-E19F9EC9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04A9E-F094-4DDF-B93E-7E745565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C4F20-E94E-4419-8D5D-99B12494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23A23-3132-48F3-BE88-EB8DC07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A/B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85C52-0699-42FE-9219-A84213AD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9C9DE-FC31-4320-B26B-33166194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CCF88-1283-48EC-A8C1-6704288C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71316-463A-4BB9-A2C8-1890AC03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A2C32-B1DF-4E0A-9246-1956482B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node firmware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4F5F4-7035-4AD2-998A-43EA9B1D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Node A senses; Node B decides and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60FD1-80E7-44F7-B762-FD1195C0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two ESP32 programs have different roles, but they share the same telemetry and sensing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2718A-0FE7-47A9-84A3-2E0E601D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524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48AE8-256C-4215-82D3-FD17416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181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6FEB"/>
                </a:solidFill>
                <a:latin typeface="Georgia"/>
                <a:ea typeface="Georgia"/>
                <a:cs typeface="Georgia"/>
              </a:rPr>
              <a:t>Node A responsibilities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8FB3E-1B2A-439E-AB7F-549A7278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1240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read A_far and A_near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filter + debounce occupancy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estimate Side A queue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encode LoRa telemetry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print human-readable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08511-F701-49C6-BC9D-A679D019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524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78FB0-70C2-4FE3-AD54-1AA9318C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181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Node B responsibilities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BC13F-D6E3-4603-A5D7-477A5722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1240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read B_far and B_near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receive Node A telemetry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detect stale LoRa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run adaptive controller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drive all six LEDs and log CSV 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3DB43-BD40-496C-93FF-F4FBCCC2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240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EAC1E-2F3F-4071-9B6F-F716BF7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6002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Node A: sensor state becomes LoRa payload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085FC-F91A-47DF-8BF0-04DDB75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09750"/>
            <a:ext cx="3295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SideTelemetry telemetry =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laneEstimator.update(SideId::A,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farOccupied, nearOccupied, nowMs);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telemetry.farDistanceCm = farDistance;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telemetry.nearDistanceCm = nearDistance;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String payload = encodeTelemetry(telemetry);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sendTelemetryOverLoRa(payload);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307E2-438A-4E62-8C35-C60E0016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29000"/>
            <a:ext cx="3524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D8293-293B-4B28-8D77-38AC188B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052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Node B: combine A + B, then apply lights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881FA-C9EC-46B2-8AC8-BDEB7A6B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14750"/>
            <a:ext cx="3295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(loRaTryReceive(packet, Serial)) {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parseTelemetryLine(packet.payload, received);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lastRemoteRxMs = nowMs;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SideTelemetry remote = effectiveRemoteTelemetry(nowMs);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TrafficDecision decision =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controller.update(remote, localTelemetry, nowMs);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applyLights(decision.lights);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6F255-95F1-483C-A314-B6C1BA3E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383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F0BD10-8CE6-4308-AD30-17F0F5AB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24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EB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F6FE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D774A-A5F1-4122-A7B7-7ED3F9E9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383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physical ultrasonic readings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ABC51-AF66-4885-8D8A-53E2EBD4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37977-78C7-491A-9B6B-3406F2C8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24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17FC0E-8C82-4862-A462-7E9F184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LoRa direction: A to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36F687-53DE-4E6A-BF2D-4FFD9744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908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6DDA3-2573-4949-8820-EBAA566D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765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5C4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E85C4A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A7139F-982E-49D4-95F4-9097EE4A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90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 outputs on Node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4EBF91-F97B-4A4F-A0EF-5105407C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C9F2F0-6B9F-452E-AD1B-09645FC1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765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50 cm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B68CA5-0C79-43E9-AF16-FB0B78D6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 demo threshold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7BF046-C3E3-46B6-B856-A5A0723D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62375"/>
            <a:ext cx="33051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0B6019-9C41-4B81-84A1-C4165D82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38575"/>
            <a:ext cx="3076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Live demo line proves all roles are active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8BFEBC-1A66-43D3-B1C0-02B585BB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48125"/>
            <a:ext cx="3076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B STATUS | A_queue=... | B_queue=...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| A_far=...cm/OCC | B_far=...cm/FREE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| source=LORA_RADIO | stale=OFF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| backup=OFF | green=A | lights=A:GREEN B:RED</a:t>
            </a:r>
          </a:p>
        </p:txBody>
      </p:sp>
    </p:spTree>
    <p:extLst>
      <p:ext uri="{BB962C8B-B14F-4D97-AF65-F5344CB8AC3E}">
        <p14:creationId xmlns:p14="http://schemas.microsoft.com/office/powerpoint/2010/main" val="2113326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9A8EB-36B4-4DBA-9A49-14254695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6B325-EBFC-47CA-90E6-A604AE0A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36148-53BF-466A-A42D-C46160F6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81922-7804-4888-8E0D-814524CD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431C3-2A16-4680-B88E-021D9E5F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7DF1C-BB50-4E1C-84BD-F76C873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7120B-5916-4B4A-9BC7-B3A6F24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656D1-CB25-47E9-8B42-B4B3D6A8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EB20D-34AD-4099-BE32-8DD5EB23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shared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BA525-189D-44B8-A7A7-CEE79BA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Shared code keeps the two nodes consistent.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B62C4-3CAA-44F1-B76A-85288372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project avoids two separate implementations by putting sensing, packet, queue, and controller logic in reusable modules.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F19E-F1F7-41EC-8739-14A6824B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AD55F-C240-4773-85C0-2277BFD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HardwareMap.h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F4E66-1089-4538-AD8F-56F805E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pin source of truth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A/B sensors, LEDs, button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35578-0DE2-497A-A6BF-2371C99F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6AF63-B71C-4198-8622-C9786DEE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SensorSupport.cpp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E21A9-B18B-4241-8DAD-4B7CADB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HC-SR04 distance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median3 + debounce2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82789-0986-42F6-8416-03ABF3E7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775FE-DA8E-4E98-8B1E-EA4A096F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19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TrafficSensing.cpp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609DA-612A-48B6-9563-5ABBCDCB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66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incoming/passed counters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 estimate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F6B2E-3C89-4C05-AA80-C07D5F1A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167DD-F02A-46DE-B33E-35B3827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NodeMessaging.cpp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DE0C6-D1AC-45EB-B045-E4B51381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LoRa CSV payload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backward-compatible decode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E952A-346E-41E0-9FD0-2693C9A9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0C382-DE83-4EAF-87AA-B4450121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C4A"/>
                </a:solidFill>
                <a:latin typeface="Aptos"/>
                <a:ea typeface="Aptos"/>
                <a:cs typeface="Aptos"/>
              </a:rPr>
              <a:t>AdaptiveController.cpp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30F0C-E117-44B9-89AF-FF605165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demand score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min green + yellow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644B9-F5A4-4A65-87DE-88BBEB6B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06AB3C-F005-49FB-BA14-D5B96099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Ina219Support.cpp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2E8889-A02E-43D4-86F0-006843C9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908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optional current/power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INA219_NA if absent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686B1E-2E3D-416C-9DE1-3F78D7B4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D360AD-D650-4E42-891D-CD47722C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Reliability layer after real-road testing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084FE0-DD60-48DE-BAAF-A0C65D24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Median filtering rejects one-sample ultrasonic spikes.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Debounce requires repeated agreement before occupancy changes.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Sensor health shows WARN/FAIL instead of hiding bad wiring or angle issues.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CE9142-91EC-44BD-8389-02B113D2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25AAC-3D7A-421C-BE76-594D8FD4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91000"/>
            <a:ext cx="567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SensorSupport.cpp: final occupancy is filtered, thresholded, then debounced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FA9B46-18F5-4FF3-83A6-55C3107B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00550"/>
            <a:ext cx="56769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reading.distanceCm = readMedianUltrasonicDistanceCm(trigPin, echoPin,</a:t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medianSampleCount, timeoutUs);</a:t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reading.rawOccupied = isDistanceOccupied(reading.distanceCm, thresholdCm);</a:t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reading.stableOccupied = debouncer.update(reading.rawOccupied, debounceSamples);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farHealth.update(farDistance);  // status: OK / WARN / FAIL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9B85EB-F13F-4CCF-A18F-94B5C20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this slide shows that the software is engineered in layers, so every improvement is implemented once and reused by both boards.</a:t>
            </a:r>
          </a:p>
        </p:txBody>
      </p:sp>
    </p:spTree>
    <p:extLst>
      <p:ext uri="{BB962C8B-B14F-4D97-AF65-F5344CB8AC3E}">
        <p14:creationId xmlns:p14="http://schemas.microsoft.com/office/powerpoint/2010/main" val="17627278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41167-1BD2-407A-9B1C-F8E81AD9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08DAE-B3E0-4BD7-B9C8-6679D8E5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439AB-8151-4B72-A2E7-70948B37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A928B-B83D-4903-8534-26FFCA2E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D313D-376C-4EEA-805C-1721F55C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EB2AE-ABBB-4F76-9AA2-6533C35B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281FC-7E86-4A65-B843-2D80A3CC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69379-C55A-4C8C-A77B-4C48473D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06617-F348-484B-855A-B0470850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adaptive 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C268E-AF45-4812-8DD4-9C71568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The controller scores demand and switches safely.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120EA-7E83-480A-9FF1-59D6C12F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algorithm is intentionally explainable: queue pressure is weighted, but timing and emergency rules prevent unstable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3D0F0-5DBA-4392-9C7E-73EDE681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476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3B986-E5A0-4A11-B8F3-DA1EBC46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716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Demand 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70BC7-5798-4DB8-BBD7-8FA1D21F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71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demand = 3 x queue + 2 x farOcc + 4 x nearOcc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43C04-944C-4ED9-9555-9A43B5D8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Queue length matters most; the near sensor has extra weight because it means a vehicle is at the stop 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168AD-AB11-45B2-897B-D3C37042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71625"/>
            <a:ext cx="51911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367FF-8B9F-4214-86E6-C7959D36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647825"/>
            <a:ext cx="496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TrafficTypes.h: exact demandScore() used by the firmware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F6C80-28A8-47A0-88A2-573488EB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857375"/>
            <a:ext cx="4962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uint32_t queueWeight = telemetry.estimatedQueue * 3U;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uint32_t incomingWeight = telemetry.farOccupied ? 2U : 0U;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uint32_t stopLineWeight = telemetry.nearOccupied ? 4U : 0U;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return queueWeight + incomingWeight + stopLineWeight;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CFC6E-8B36-440B-83E2-A012F3E3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5000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3CC55-A7BC-442E-BA1B-27D23EC6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09950"/>
            <a:ext cx="477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C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C4A"/>
                </a:solidFill>
                <a:latin typeface="Aptos"/>
                <a:ea typeface="Aptos"/>
                <a:cs typeface="Aptos"/>
              </a:rPr>
              <a:t>AdaptiveController.cpp: switching is allowed only after safe timing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01F1D-FAF9-4BCA-B921-7D9E3E07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4772025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canSwitch = phaseElapsedMs &gt;= config_.minGreenMs;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currentEmpty = !hasDemand(current);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otherBusy = hasDemand(other);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reachedMaxGreen = phaseElapsedMs &gt;= config_.maxGreenMs;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otherClearlyBusier =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demandScore(other) &gt; (demandScore(current) + config_.advantageMargin);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(canSwitch &amp;&amp; ((currentEmpty &amp;&amp; otherBusy) ||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(otherBusy &amp;&amp; otherClearlyBusier) || (reachedMaxGreen &amp;&amp; otherBusy))) {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beginYellow(other.side, nowMs);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AB1E2-E366-442E-9288-9144BF3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667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4B77D-E46D-4D33-BBD8-A6A0F1A5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432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Improvements added after problems appeared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4BF0C-E573-4B0A-9E2D-66BC03D0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42672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per-sensor threshold commands: set_thresholds 50 50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median-of-3 ultrasonic filtering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- 2-sample occupancy debounce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sensor health diagnostics: OK / WARN / FAIL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emergency button: 1 click = B, 2 clicks = 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stale Node A backup and recovery logging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1BC499-6558-4679-9140-16D70220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the algorithm is not a black box. We can justify every number and explain every improvement as a response to measured behavior.</a:t>
            </a:r>
          </a:p>
        </p:txBody>
      </p:sp>
    </p:spTree>
    <p:extLst>
      <p:ext uri="{BB962C8B-B14F-4D97-AF65-F5344CB8AC3E}">
        <p14:creationId xmlns:p14="http://schemas.microsoft.com/office/powerpoint/2010/main" val="4298055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14198-6132-439D-98B4-7A6BE41A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89738-8079-4B02-ADB3-AD93B876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958A7-EB9B-48BA-BCF6-6676C878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25CB1-6A6A-4888-89A2-ABCE465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A336C-5032-49FC-90D8-FC3A9490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23F1A-6A6A-456F-A829-A2206EB0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3CAC2-97C2-4CE5-BB4D-A61EF0C3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C65D1-85CB-4C83-9141-2C6C0E0C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53EB0-7CB7-48AC-ADCA-81B9A413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communication 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637BD-6508-4387-BAAE-E0E343C4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Before improving, sending a packet was not enough.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D2007-2466-422C-B93F-B6DB302B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first LoRa version proved connectivity, but the professor's point was reliability: what does the packet mean, and is it fresh?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08A79-833A-4478-A8DA-839115DC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762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A2216-4F9C-4D4F-91F2-506761E3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53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Older payload accepted by the decoder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8C87C-5291-4DF3-8E79-E496B52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5339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A,farOccupied,nearOccupied,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incomingCount,passedCount,queue,timestampMs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Example: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A,1,0,4,2,2,12345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8129F-2788-4B26-AD5C-E717CD5C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24000"/>
            <a:ext cx="5000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0821F-1D0C-4007-8505-E87A9B8F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00200"/>
            <a:ext cx="477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NodeMessaging.cpp kept backward compatibility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C03C1-D71D-43C9-A286-5AFAE915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809750"/>
            <a:ext cx="4772025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Earliest payload without emergency flag or distances</a:t>
            </a:r>
          </a:p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matched = sscanf(payload.c_str(),</a:t>
            </a:r>
          </a:p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"%c,%d,%d,%lu,%lu,%lu,%lu",</a:t>
            </a:r>
          </a:p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&amp;sideToken, &amp;farOccupied, &amp;nearOccupied,</a:t>
            </a:r>
          </a:p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&amp;incomingCount, &amp;passedCount,</a:t>
            </a:r>
          </a:p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&amp;estimatedQueue, &amp;timestampMs);</a:t>
            </a:r>
          </a:p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emergencyRequested = 0;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801DE-8FB7-4661-943D-DA2E3BD5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1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C458C-E6AE-4C4F-9D00-F70656E9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C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85C4A"/>
                </a:solidFill>
                <a:latin typeface="Georgia"/>
                <a:ea typeface="Georgia"/>
                <a:cs typeface="Georgia"/>
              </a:rPr>
              <a:t>What was missing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B0C30-2646-42BA-9472-6C0E77F2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27432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 real distance values in the packet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 emergency field in earliest format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 clear stale/fresh state for Node B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 way to distinguish no traffic from no 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CF823-372A-4059-A511-4C4853D3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CE4C3-73F5-4C2C-A445-4C07CBB3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9572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Why that mattered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5FBCB-A060-4E89-8245-EA3EC51D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9575"/>
            <a:ext cx="27432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false positives cannot be measured from a packet alone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old packets can create a phantom queue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energy saving by silence can look like failure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logs need enough fields for CSV 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1A1E40-706D-4D03-951D-54E5DEA1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31539A-D099-4C4A-8A50-4B6DE4E3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814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Transition to the final version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87EAC-3A58-4580-99DE-718A3A79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815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next version adds distances, emergency state, stale detection, backup behavior, and a clean live log. That turns LoRa from a demo packet into useful IoT telemetry.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D2534D-C961-4167-8018-17F967B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this is the process slide. We can honestly say the first version was not enough, then show exactly what we changed.</a:t>
            </a:r>
          </a:p>
        </p:txBody>
      </p:sp>
    </p:spTree>
    <p:extLst>
      <p:ext uri="{BB962C8B-B14F-4D97-AF65-F5344CB8AC3E}">
        <p14:creationId xmlns:p14="http://schemas.microsoft.com/office/powerpoint/2010/main" val="19370342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A86D0-37CC-47DC-9308-46B0436F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8B4E7-D9EA-4B6D-AE1B-E40B64E6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C531B-5E8F-48E7-A18E-D67D0C99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892E2-E33F-45AB-AD12-5A371A91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79FF0-EAEF-4D73-8019-D273AE09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94B64-D302-4715-8498-A3C09642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04A2C-3050-4431-87D3-E82F250E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B6E7D-F693-4DBE-B6A0-27E46DD1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795C3-B57D-4ECE-9E17-094634A9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communication 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EB997-7F45-44FB-BC1D-1836DEB6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Improved communication carries state and health.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714C6-2C4D-4FBF-99E8-4BB3F2A1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Node B now uses packet freshness, backup mode, and a future heartbeat idea to avoid confusing empty traffic with failure.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52D85-A8A1-4824-8E93-AC196A72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B57C3-D4F0-4E84-AEE9-0D6BE81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Final packet format sent by Node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6DC85-982A-4417-A002-778885D1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8196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side,farOcc,nearOcc,incoming,passed,queue,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emergency,timestampMs,farDistanceCm,nearDistanceCm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Example: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A,1,0,4,2,2,0,12345,42.0,999.0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39DF4-FE3E-4AC9-9662-D1FD9991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47800"/>
            <a:ext cx="4810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F8525-0EC0-4969-B28B-DB25F880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24000"/>
            <a:ext cx="458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NodeMessaging.cpp: encodeTelemetry()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1ECAB-A539-434B-897D-F24505F3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733550"/>
            <a:ext cx="45815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return String(sideName(telemetry.side))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String(telemetry.farOccupied ? 1 : 0)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String(telemetry.nearOccupied ? 1 : 0)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String(telemetry.incomingCount)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String(telemetry.passedCount)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String(telemetry.estimatedQueue)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String(telemetry.emergencyRequested ? 1 : 0)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String(telemetry.timestampMs)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String(telemetry.farDistanceCm, 1)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String(telemetry.nearDistanceCm, 1);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E6319-8AA3-405E-9F4B-C9C30268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E8A7A-3014-427D-BA0C-4C45706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Node B: stale data becomes backup mode, not silent 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6CADC-AA94-4888-9458-66B3BC5B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819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(lastRemoteRxMs == 0 ||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(nowMs - lastRemoteRxMs) &gt; config::kRemoteTelemetryTimeoutMs) {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setNodeABackupActive(true, "NODE_A_STALE");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remoteTelemetryStale = true;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lastRemoteSource = "LORA_STALE";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return makeNodeABackupTelemetry(nowMs);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A8D8B-98C6-4F80-9A1C-31B506DA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38500"/>
            <a:ext cx="4810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18555-CB9B-4256-A950-84207417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14700"/>
            <a:ext cx="458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Future improvement: separate traffic telemetry from heartbeat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975C9-2DA8-4736-B8D2-2F143146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24250"/>
            <a:ext cx="45815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(queue == 0 &amp;&amp; farFree &amp;&amp; nearFree)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sendHeartbeatEvery(10000);      // alive, no traffic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sendTelemetryOnlyOnChange();    // full packet if state changes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sendTelemetryEvery(1000);       // active traffic mode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(millis() - lastHeartbeatMs &gt; failureTimeoutMs)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markNodeFailed();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992BA-15EE-44A5-B7FE-64B095DC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4905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62E059-0D1C-45B4-AF15-AD7AEA4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4562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Communication improvement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2540C-A157-44FA-A708-EDD4F31E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4505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stale LoRa becomes backup mode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heartbeat can reduce packets while failure timeout remains active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AB748-B919-4356-8C0B-A7403DDE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095875"/>
            <a:ext cx="4810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83BD8-0A0C-437E-A458-A79E76F9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Important limitation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3EFE4-43D1-4597-9B79-60CF9B26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If Node A sleeps completely, HC-SR04 cannot wake it by itself. True wake-on-car needs a low-power detector such as IR, magnetic, radar, or loop sensor.</a:t>
            </a:r>
          </a:p>
        </p:txBody>
      </p:sp>
    </p:spTree>
    <p:extLst>
      <p:ext uri="{BB962C8B-B14F-4D97-AF65-F5344CB8AC3E}">
        <p14:creationId xmlns:p14="http://schemas.microsoft.com/office/powerpoint/2010/main" val="18246538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076C58-629B-421F-84F8-B79975C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EE1AF-B88F-42DB-A413-A32A136C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FCBB1-9620-4307-848C-C86F0A17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6A7FF-4B24-4412-89E8-A8DD9346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62125-E7CA-49DF-BB07-AD4B8C5F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21D3B-42D7-4E40-B685-8BE0B8FA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EA222-CA7E-4175-83AF-A183D0A0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B380A-6E2F-4313-9031-2405B72D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25DD9-7C2C-4D47-9C89-4ED806B1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power and duty cycling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CAB70-35AA-4D13-BD1B-22225BC5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Energy was measured before optimization.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18824-6DAB-456B-9350-16B52195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final demo reports INA219 baseline current, then proposes adaptive duty cycling without hiding node failures.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4B078-D9CF-421F-8401-69F199C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52E0B-3409-43E3-A31C-EC24B1B4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EB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F6FEB"/>
                </a:solidFill>
                <a:latin typeface="Georgia"/>
                <a:ea typeface="Georgia"/>
                <a:cs typeface="Georgia"/>
              </a:rPr>
              <a:t>123.0 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96A6A-C22A-445F-BCF9-FD8F2E8B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A measured average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C92F4-B557-4613-AB1C-7647C3B5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98CBD-4436-4820-BC20-9CE72B69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174.8 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1FE6C-86E4-4849-91E1-BC72733A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B measured average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27067-2142-4C3F-B6CB-8A355C79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DCC28-4EFD-47AB-9BFA-A2BD56CF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4E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6B4EFF"/>
                </a:solidFill>
                <a:latin typeface="Georgia"/>
                <a:ea typeface="Georgia"/>
                <a:cs typeface="Georgia"/>
              </a:rPr>
              <a:t>297.9 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42429-360C-4214-945A-1C39C9A5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combined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0CC83-595F-4D32-8537-3475B4A0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18D6B-E540-400A-8714-40AF935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INA219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7A2E2-CA47-4C33-AF4C-AE61C939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measured, not guessed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A73EF6-D583-4927-B400-AF94D7BF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492A6-DA8C-46EA-AC42-02A6754E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Current firmware: optional INA219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3F388-5D16-4646-8C68-1E5A8D77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8671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lastPowerReading = ina219Read();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Serial.print(" | power=");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(lastPowerReading.ok) {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Serial.print(lastPowerReading.currentMa, 1);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Serial.print("mA/");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Serial.print(lastPowerReading.powerMw, 1);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Serial.println("mW");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Serial.println("INA219_NA");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264B8-0B8E-48B7-9919-25C9070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5667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26B99E-397D-40BD-BFC8-E43C04C3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52700"/>
            <a:ext cx="5438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Proposed improvement: adaptive duty cycle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C3DF3-EA21-4242-BC67-22F7F9F2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62250"/>
            <a:ext cx="54387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(bothQueuesEmpty()) {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telemetryPeriodMs = 10000;  // heartbeat / low activity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if (isPeakHour() &amp;&amp; bothSidesBusy()) {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telemetryPeriodMs = 3000;   // saturated traffic: fewer repeated updates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telemetryPeriodMs = 1000;   // normal adaptive control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61315-9EF7-42E1-9A16-7290AB3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1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CF18A1-D700-4979-B4C6-C12C3AAC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C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85C4A"/>
                </a:solidFill>
                <a:latin typeface="Georgia"/>
                <a:ea typeface="Georgia"/>
                <a:cs typeface="Georgia"/>
              </a:rPr>
              <a:t>Before improvement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3C39F7-524A-49B5-8FDB-E59D7F9D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fixed telemetry interval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continuous sensing and logging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B radio receive and LED load always active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baseline measured with INA219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982FD2-0DC9-4D9C-A525-DEDB447F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280ED2-7AFB-400B-8498-EA19DCE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4196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After improvement idea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07B883-AB48-402C-8709-56100FC3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7434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full telemetry only when state changes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heartbeat proves node is alive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longer failure timeout in idle mode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optional lower sampling in predictable peak saturation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F5C0A2-55DE-411E-AD58-06D6B92F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5F5B1D-51DA-483D-ABA2-8185B80C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Sleep mode tradeoff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AD60F6-589B-4E9B-B895-1C780E64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10125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Periodic ESP sleep saves more energy, but can miss a car during sleep. Reliable wake-on-car needs an external low-power detector, then HC-SR04 confirms distance.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F84C6F-DCE3-4B67-8385-645B1202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the numbers on this slide are measured baseline values; the duty-cycle logic is a justified future optimization, not claimed as already measured.</a:t>
            </a:r>
          </a:p>
        </p:txBody>
      </p:sp>
    </p:spTree>
    <p:extLst>
      <p:ext uri="{BB962C8B-B14F-4D97-AF65-F5344CB8AC3E}">
        <p14:creationId xmlns:p14="http://schemas.microsoft.com/office/powerpoint/2010/main" val="20976874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8C33B-EE9E-4734-8668-50C2766E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A3001-364A-4D1C-A993-ABEE67B3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0D905-DC64-456A-A8C0-EF87AAAB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F39A2-657D-4AC9-A126-BF62B4DA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D2D7A-4FF8-4C0A-93EE-8996C78D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C731B-A8B3-4DC3-A60B-B4A91AF7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93FF9-2CB3-4A4D-86ED-C61EBA74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7EF3A-6920-4142-B441-85BD4B34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B04D5-1825-43F0-B8AB-8C743CA2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simulators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43C7E-DF6C-4911-B446-BA86FBEB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The simulator became a real-data replay tool.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F2A2E-19B3-4023-872D-804620E6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We kept random/manual modes for testing, but the important final mode is CSV replay from the road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33777-2D51-48BB-836F-BBD30594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476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e914a3e8e44c3"/>
          <a:stretch xmlns:a="http://schemas.openxmlformats.org/drawingml/2006/main"/>
        </p:blipFill>
        <p:spPr>
          <a:xfrm xmlns:a="http://schemas.openxmlformats.org/drawingml/2006/main">
            <a:off x="675217" y="1581150"/>
            <a:ext cx="4555067" cy="25622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AC87A-C23A-4AA0-9DA9-9D8EBFA1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04950"/>
            <a:ext cx="2428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8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EF1C5-0C48-47DF-B430-89AFAFAC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38300"/>
            <a:ext cx="2085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9D8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A9D8F"/>
                </a:solidFill>
                <a:latin typeface="Georgia"/>
                <a:ea typeface="Georgia"/>
                <a:cs typeface="Georgia"/>
              </a:rPr>
              <a:t>Simulator modes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D196F-8C03-414C-A6AE-9B9246D7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962150"/>
            <a:ext cx="2028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CSV replay from road data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direct queue input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rates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random traffic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fixed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1EA9A-880C-46EA-B180-66032087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2428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5800F-152C-45C0-B149-6A1A22A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38300"/>
            <a:ext cx="2085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Why CSV replay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BE8FC-761D-4D65-910E-9E65BCFF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62150"/>
            <a:ext cx="2028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uses real sensor demand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shows queues visually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compares adaptive vs fixed-time idea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connects IoT evidence to digital twin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192C2-2AC8-4426-A9A4-A6E243EE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95625"/>
            <a:ext cx="50958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99073-2F72-4E3C-BCE7-63AB0BE7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71825"/>
            <a:ext cx="486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simulation/visual_simulator.py: road CSV becomes replay frames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DC528-60CD-4189-8858-BC7AF56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81375"/>
            <a:ext cx="48672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frames = load_road_frames(path)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self.csv_status_var.set(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"CSV replay loaded: " + csv_status_line(frames, path)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CSV fields used: A/B queues, distances, phase, green side,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source=LORA_RADIO or LORA_STALE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02A5F-F4F5-4210-983B-157B6603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1019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4140F-63D4-45D9-A23B-D9CE34D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How to say this honestly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1DC5B-4B5A-400C-A6AC-FFD8046D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simulator does not replace field evidence. It replays the measured demand from the road CSV so we can visualize and compare the controller behavior against a fixed-time baseline. That is the digital twin connection.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310AF-1824-4792-A684-50C3F94C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End of software story: sensors -&gt; firmware -&gt; LoRa -&gt; controller -&gt; log -&gt; CSV -&gt; evaluation -&gt; replay.</a:t>
            </a:r>
          </a:p>
        </p:txBody>
      </p:sp>
    </p:spTree>
    <p:extLst>
      <p:ext uri="{BB962C8B-B14F-4D97-AF65-F5344CB8AC3E}">
        <p14:creationId xmlns:p14="http://schemas.microsoft.com/office/powerpoint/2010/main" val="296031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2026-05-26T10:34:29.8940000Z</dcterms:created>
  <dcterms:modified xsi:type="dcterms:W3CDTF">2026-05-26T10:34:29.8940000Z</dcterms:modified>
</coreProperties>
</file>