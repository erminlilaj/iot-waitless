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11dc36251049b7" /><Relationship Type="http://schemas.openxmlformats.org/officeDocument/2006/relationships/extended-properties" Target="/docProps/app.xml" Id="Rf0569a3c57034bf3" /><Relationship Type="http://schemas.openxmlformats.org/officeDocument/2006/relationships/officeDocument" Target="/ppt/presentation.xml" Id="R01a29fd569fc44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f19e27237f41d9"/>
  </p:sldMasterIdLst>
  <p:notesMasterIdLst>
    <p:notesMasterId xmlns:r="http://schemas.openxmlformats.org/officeDocument/2006/relationships" r:id="R6e25b6c210eb4545"/>
  </p:notesMasterIdLst>
  <p:sldIdLst>
    <p:sldId xmlns:r="http://schemas.openxmlformats.org/officeDocument/2006/relationships" id="256" r:id="R740324943ed2445f"/>
    <p:sldId xmlns:r="http://schemas.openxmlformats.org/officeDocument/2006/relationships" id="257" r:id="Rd452b60a0eb24373"/>
    <p:sldId xmlns:r="http://schemas.openxmlformats.org/officeDocument/2006/relationships" id="258" r:id="Ra318ce6065a84660"/>
    <p:sldId xmlns:r="http://schemas.openxmlformats.org/officeDocument/2006/relationships" id="259" r:id="Rb1da4185239d454f"/>
    <p:sldId xmlns:r="http://schemas.openxmlformats.org/officeDocument/2006/relationships" id="260" r:id="R8dcaffcd2bb64aeb"/>
    <p:sldId xmlns:r="http://schemas.openxmlformats.org/officeDocument/2006/relationships" id="261" r:id="R0c49fc651693455f"/>
    <p:sldId xmlns:r="http://schemas.openxmlformats.org/officeDocument/2006/relationships" id="262" r:id="R4b639ba7eace482d"/>
    <p:sldId xmlns:r="http://schemas.openxmlformats.org/officeDocument/2006/relationships" id="263" r:id="Ra99bf7f90ae04cf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19e27237f41d9" /><Relationship Type="http://schemas.openxmlformats.org/officeDocument/2006/relationships/theme" Target="/ppt/theme/theme1.xml" Id="R834336e2fb09466a" /><Relationship Type="http://schemas.openxmlformats.org/officeDocument/2006/relationships/notesMaster" Target="/ppt/notesMasters/notesMaster1.xml" Id="R6e25b6c210eb4545" /><Relationship Type="http://schemas.openxmlformats.org/officeDocument/2006/relationships/presProps" Target="/ppt/presProps.xml" Id="Racc21efa66864c4f" /><Relationship Type="http://schemas.openxmlformats.org/officeDocument/2006/relationships/viewProps" Target="/ppt/viewProps.xml" Id="R925788a12aef4c4f" /><Relationship Type="http://schemas.openxmlformats.org/officeDocument/2006/relationships/tableStyles" Target="/ppt/tableStyles.xml" Id="R160d3616a4bc4f53" /><Relationship Type="http://schemas.openxmlformats.org/officeDocument/2006/relationships/slide" Target="/ppt/slides/slide1.xml" Id="R740324943ed2445f" /><Relationship Type="http://schemas.openxmlformats.org/officeDocument/2006/relationships/slide" Target="/ppt/slides/slide2.xml" Id="Rd452b60a0eb24373" /><Relationship Type="http://schemas.openxmlformats.org/officeDocument/2006/relationships/slide" Target="/ppt/slides/slide3.xml" Id="Ra318ce6065a84660" /><Relationship Type="http://schemas.openxmlformats.org/officeDocument/2006/relationships/slide" Target="/ppt/slides/slide4.xml" Id="Rb1da4185239d454f" /><Relationship Type="http://schemas.openxmlformats.org/officeDocument/2006/relationships/slide" Target="/ppt/slides/slide5.xml" Id="R8dcaffcd2bb64aeb" /><Relationship Type="http://schemas.openxmlformats.org/officeDocument/2006/relationships/slide" Target="/ppt/slides/slide6.xml" Id="R0c49fc651693455f" /><Relationship Type="http://schemas.openxmlformats.org/officeDocument/2006/relationships/slide" Target="/ppt/slides/slide7.xml" Id="R4b639ba7eace482d" /><Relationship Type="http://schemas.openxmlformats.org/officeDocument/2006/relationships/slide" Target="/ppt/slides/slide8.xml" Id="Ra99bf7f90ae04c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659fcaf97bb4f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2ecc502f774af6" /><Relationship Type="http://schemas.openxmlformats.org/officeDocument/2006/relationships/notesMaster" Target="/ppt/notesMasters/notesMaster1.xml" Id="R71517c0d8d2945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09c3f434674029" /><Relationship Type="http://schemas.openxmlformats.org/officeDocument/2006/relationships/notesMaster" Target="/ppt/notesMasters/notesMaster1.xml" Id="R284da5f0c18c4b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d80e5e1a0c455d" /><Relationship Type="http://schemas.openxmlformats.org/officeDocument/2006/relationships/notesMaster" Target="/ppt/notesMasters/notesMaster1.xml" Id="R859a72ad36884c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7faf4d16b0412a" /><Relationship Type="http://schemas.openxmlformats.org/officeDocument/2006/relationships/notesMaster" Target="/ppt/notesMasters/notesMaster1.xml" Id="Ra1d1d4f49b7146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82f520c7ee4013" /><Relationship Type="http://schemas.openxmlformats.org/officeDocument/2006/relationships/notesMaster" Target="/ppt/notesMasters/notesMaster1.xml" Id="R868d4e991f8c4f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d7c649ac6b4b52" /><Relationship Type="http://schemas.openxmlformats.org/officeDocument/2006/relationships/notesMaster" Target="/ppt/notesMasters/notesMaster1.xml" Id="Rf11649f862e449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10e28d8e464119" /><Relationship Type="http://schemas.openxmlformats.org/officeDocument/2006/relationships/notesMaster" Target="/ppt/notesMasters/notesMaster1.xml" Id="R485125850d2a40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23273e48e84f1b" /><Relationship Type="http://schemas.openxmlformats.org/officeDocument/2006/relationships/notesMaster" Target="/ppt/notesMasters/notesMaster1.xml" Id="Rc64e39d672e043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05da408ccb40c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9ef6d7204124060" /><Relationship Type="http://schemas.openxmlformats.org/officeDocument/2006/relationships/slideLayout" Target="/ppt/slideLayouts/slideLayout2.xml" Id="Rc8797d685b834e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797d685b834e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b6e30f57724223" /><Relationship Type="http://schemas.openxmlformats.org/officeDocument/2006/relationships/notesSlide" Target="/ppt/notesSlides/notesSlide1.xml" Id="Rba92d6f9cf3d44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a16a343e8f4559" /><Relationship Type="http://schemas.openxmlformats.org/officeDocument/2006/relationships/notesSlide" Target="/ppt/notesSlides/notesSlide2.xml" Id="R4157e0d363a944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57f27d06614577" /><Relationship Type="http://schemas.openxmlformats.org/officeDocument/2006/relationships/notesSlide" Target="/ppt/notesSlides/notesSlide3.xml" Id="R10294eaec2a24d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20641b3fce4469" /><Relationship Type="http://schemas.openxmlformats.org/officeDocument/2006/relationships/notesSlide" Target="/ppt/notesSlides/notesSlide4.xml" Id="R3814de231f7247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1f711550cd4817" /><Relationship Type="http://schemas.openxmlformats.org/officeDocument/2006/relationships/notesSlide" Target="/ppt/notesSlides/notesSlide5.xml" Id="Ra0323112500243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067a86adf24b30" /><Relationship Type="http://schemas.openxmlformats.org/officeDocument/2006/relationships/notesSlide" Target="/ppt/notesSlides/notesSlide6.xml" Id="R5b2e8423267b47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d857621c2f4aae" /><Relationship Type="http://schemas.openxmlformats.org/officeDocument/2006/relationships/notesSlide" Target="/ppt/notesSlides/notesSlide7.xml" Id="Rc3888f4a74b94f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b976b1a6404f0e" /><Relationship Type="http://schemas.openxmlformats.org/officeDocument/2006/relationships/image" Target="/ppt/media/image.png" Id="R679badd0e42a4f05" /><Relationship Type="http://schemas.openxmlformats.org/officeDocument/2006/relationships/notesSlide" Target="/ppt/notesSlides/notesSlide8.xml" Id="Rbc9ba323664d421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8D62E3-5F71-4251-8F2B-BB1E7139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96E55-7DFE-4C24-B3B1-346EC466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4C6EA1-1FE2-4DC9-88D3-821C267A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1FAD8-7240-4A3E-982B-351E2A82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{ 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007589-CC12-4546-80BC-FAFCD745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AA955-72C4-45B3-97A6-9F5ECAB1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CEB3E-29A1-4656-AB06-24A4EBEE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0CD19B-9CFF-4766-94BA-FA49A11F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814B34-568D-4908-86C8-50401821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general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C3864-E385-4729-B396-9D2C9F9C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Software is a pipeline from sensing to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8C7D5-2C08-4A05-8835-53D66EAA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The code is not only a simulator: firmware, shared logic, logging tools, and replay all use the same data story.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F10A90-15D2-41F5-A219-4F2C92EC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1352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3C855-1B38-4676-A6EC-43DB9F1A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Sensors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501DFF-AA4C-4B37-8263-23EA0ECA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05025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4 ultrasonic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far + near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FB112-5CBB-4F07-BF13-E55315DA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028825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B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E4A8DF-6099-449C-B459-0F668E58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62125"/>
            <a:ext cx="1352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B90D1-AA72-4576-A4B4-4999E0E8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857375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Firmware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FCDBF2-5B9B-4222-B815-54317F11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105025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Node A + Node B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ESP32 LoRa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8D703F-73B0-46EC-B6C6-191CDA1F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28825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B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738D12-3597-4B0E-81C5-1A4920A4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62125"/>
            <a:ext cx="1352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7D15AD-FA89-479C-9A95-5C413548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57375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7A7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7A72D"/>
                </a:solidFill>
                <a:latin typeface="Aptos"/>
                <a:ea typeface="Aptos"/>
                <a:cs typeface="Aptos"/>
              </a:rPr>
              <a:t>Shared logic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D664A-31C8-45D3-A9E6-CA71216A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05025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sensing, queue,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controller, packets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B39B14-7FB9-42F6-8103-EC28E48C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28825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B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7DAE8E-C69D-4A5E-AA38-7123219D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762125"/>
            <a:ext cx="1352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9AD8FD-6EB4-4818-BF2B-C839976D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57375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Logger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4DD375-F9D2-4E45-B20C-0DC25285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05025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serial B STATUS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saved CSV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0F576-67CC-40E1-9AAE-06251B9C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28825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B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F93EF-7264-4A92-A8D1-F3D7476A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62125"/>
            <a:ext cx="1352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5C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A40956-8E85-4C05-8050-94FE41D8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57375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5C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85C4A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CBA6C5-FD73-4785-856A-9693B2E1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05025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TP/TN/FP/FN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stale + energy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C45961-2CB9-4A44-8307-DCD4A532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28825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B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1C0238-CA39-4051-8838-393F7E59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62125"/>
            <a:ext cx="1352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B4E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ABF685-D6D7-4040-9514-CE279B28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857375"/>
            <a:ext cx="1162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4E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4EFF"/>
                </a:solidFill>
                <a:latin typeface="Aptos"/>
                <a:ea typeface="Aptos"/>
                <a:cs typeface="Aptos"/>
              </a:rPr>
              <a:t>Simulator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707D4D-780B-4149-A255-D1678583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5025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CSV replay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digital twin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71F171-EB43-4155-81CF-44F17677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90875"/>
            <a:ext cx="5048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EEFC7F-814D-4452-8660-C062953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67075"/>
            <a:ext cx="481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Repository structure used in the software slides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DB36FB-0522-421F-9C09-44954609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48196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firmware/node_a/main.cpp       // Side A sensing + LoRa TX</a:t>
            </a:r>
          </a:p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firmware/node_b/main.cpp       // Side B sensing + control</a:t>
            </a:r>
          </a:p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lib/traffic_control/           // shared logic used by both nodes</a:t>
            </a:r>
          </a:p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tools/road_data_logger.py      // live serial -&gt; CSV evidence</a:t>
            </a:r>
          </a:p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tools/final_evidence_report.py // metrics and report</a:t>
            </a:r>
          </a:p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simulation/visual_simulator.py // CSV replay / digital twin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703725-C524-48D0-AFCC-6E7DE454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90875"/>
            <a:ext cx="4953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BB82A9-DA05-4531-B8B4-7860D72A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0995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9D8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2A9D8F"/>
                </a:solidFill>
                <a:latin typeface="Georgia"/>
                <a:ea typeface="Georgia"/>
                <a:cs typeface="Georgia"/>
              </a:rPr>
              <a:t>What this proves to the professor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9AE6CA-55E2-4719-9AD0-0E1BE4F0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10000"/>
            <a:ext cx="4381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Real sensor readings are converted into queue states.</a:t>
            </a:r>
          </a:p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Node A and Node B communicate through LoRa packets.</a:t>
            </a:r>
          </a:p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Node B makes the final light decision locally.</a:t>
            </a:r>
          </a:p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The same live log becomes CSV, metrics, graphs, and simulator replay.</a:t>
            </a:r>
          </a:p>
          <a:p xmlns:a="http://schemas.openxmlformats.org/drawingml/2006/main">
            <a:pPr algn="l">
              <a:defRPr sz="10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Improvements are visible in code: filtering, stale handling, emergency, energy logging.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349A59-7A65-429A-88CF-FF2EE675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0250"/>
            <a:ext cx="1009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Speaker message: each later slide zooms into one layer of this pipeline, then shows how we improved it after testing.</a:t>
            </a:r>
          </a:p>
        </p:txBody>
      </p:sp>
    </p:spTree>
    <p:extLst>
      <p:ext uri="{BB962C8B-B14F-4D97-AF65-F5344CB8AC3E}">
        <p14:creationId xmlns:p14="http://schemas.microsoft.com/office/powerpoint/2010/main" val="6024257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CE08F0-7EED-40DF-A97F-C6E55C65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14DC0-2D69-45EA-A7A3-BC41CF17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6D5CA-C4FA-444F-990F-84816DB2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614FC-9E43-4694-8AEB-D2E8F7D3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A/B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4B805-7D03-4C2A-8EBE-D2FF8C53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D9765-FD54-42A1-8183-7060A871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2FFFA-75E2-43F0-A5C8-F95103C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027D8-421E-480C-A3AE-97C8C617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91E10-E765-41EA-B5C6-7AF661F8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node firmware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B927E-54D0-4EDC-AE49-B13C93D4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Node A senses; Node B decides and controls.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689BB-1CB4-4815-9A2A-0FA3EBD3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The two ESP32 programs have different roles, but they share the same telemetry and sensing model.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57F53D-F88E-4B4D-A3C5-A66C09A1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25241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63335-BD0C-4CA8-BD7F-BF62C740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81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6FE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F6FEB"/>
                </a:solidFill>
                <a:latin typeface="Georgia"/>
                <a:ea typeface="Georgia"/>
                <a:cs typeface="Georgia"/>
              </a:rPr>
              <a:t>Node A responsibilities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F5EB7-04AE-4F69-B9C5-FC6AC4C9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1240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read A_far and A_near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filter + debounce occupancy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estimate Side A queue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encode LoRa telemetry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print human-readable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F7CA1-7F3A-4F01-A547-416ADBB7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25241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BF4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4A420A-7097-42D2-98E9-27B8953F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2181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Node B responsibilities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728BF-912D-4966-B68E-6B686B94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21240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read B_far and B_near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receive Node A telemetry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detect stale LoRa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run adaptive controller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drive all six LEDs and log CSV 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E32560-7246-4BB2-8A33-705A1048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24000"/>
            <a:ext cx="3524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EBBFC-39AC-4414-B6DD-2F20C27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600200"/>
            <a:ext cx="3295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Node A: sensor state becomes LoRa payload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85CCF-724A-44FC-80C6-83462D3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809750"/>
            <a:ext cx="32956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SideTelemetry telemetry =</a:t>
            </a:r>
          </a:p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laneEstimator.update(SideId::A,</a:t>
            </a:r>
          </a:p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farOccupied, nearOccupied, nowMs);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telemetry.farDistanceCm = farDistance;</a:t>
            </a:r>
          </a:p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telemetry.nearDistanceCm = nearDistance;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String payload = encodeTelemetry(telemetry);</a:t>
            </a:r>
          </a:p>
          <a:p xmlns:a="http://schemas.openxmlformats.org/drawingml/2006/main">
            <a:pPr algn="l">
              <a:defRPr sz="80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0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sendTelemetryOverLoRa(payload);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EE41B8-4D2A-4F84-A0B2-7351378C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29000"/>
            <a:ext cx="3524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BE9083-AE26-45EC-BFC2-864B21AB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505200"/>
            <a:ext cx="3295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Node B: combine A + B, then apply lights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D4D85D-1C99-4D70-AE71-2C22E4A9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714750"/>
            <a:ext cx="32956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(loRaTryReceive(packet, Serial)) {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parseTelemetryLine(packet.payload, received);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lastRemoteRxMs = nowMs;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SideTelemetry remote = effectiveRemoteTelemetry(nowMs);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TrafficDecision decision =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controller.update(remote, localTelemetry, nowMs);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applyLights(decision.lights);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F4CC1B-5BED-4310-BE77-6817ECE0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6383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FFC93B-E3B5-493F-A2CA-FAA823B8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7240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6FEB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F6FEB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CFCBDF-625E-4FF6-AFC5-6B1F4C6B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038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physical ultrasonic readings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D0BDB7-6DDA-452D-9955-EC6E9476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383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B58EEB-50A9-4609-A936-2069A125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240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1FBEE5-C5D3-4E1D-A53F-07EB96BC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38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LoRa direction: A to 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C1C3C7-B70D-4AE4-BF66-B5CA466E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908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5C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52E50B-9E49-430B-B9B9-6EB9729B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6765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85C4A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E85C4A"/>
                </a:solidFill>
                <a:latin typeface="Georgia"/>
                <a:ea typeface="Georgia"/>
                <a:cs typeface="Georgia"/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216671-5063-462A-8558-A8C594E6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9908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LED outputs on Node 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F072C-5C76-49C9-AE0F-7E7EEAD6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908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3BC01F-733E-4340-B482-9F35A0DD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765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50 cm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B99B6B-8241-4DB0-887C-E0154D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908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live demo threshold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66D30B-9B6B-48DA-9EF0-E0E0DC49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62375"/>
            <a:ext cx="33051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6A29D5-4947-495A-9135-8147F439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838575"/>
            <a:ext cx="30765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Live demo line proves all roles are active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0B6772-8DFC-431A-AD45-44C062D6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048125"/>
            <a:ext cx="30765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 STATUS | A_queue=... | B_queue=...</a:t>
            </a:r>
          </a:p>
          <a:p xmlns:a="http://schemas.openxmlformats.org/drawingml/2006/main">
            <a:pPr algn="l">
              <a:defRPr sz="7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| A_far=...cm/OCC | B_far=...cm/FREE</a:t>
            </a:r>
          </a:p>
          <a:p xmlns:a="http://schemas.openxmlformats.org/drawingml/2006/main">
            <a:pPr algn="l">
              <a:defRPr sz="7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| source=LORA_RADIO | stale=OFF</a:t>
            </a:r>
          </a:p>
          <a:p xmlns:a="http://schemas.openxmlformats.org/drawingml/2006/main">
            <a:pPr algn="l">
              <a:defRPr sz="7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| backup=OFF | green=A | lights=A:GREEN B:RED</a:t>
            </a:r>
          </a:p>
        </p:txBody>
      </p:sp>
    </p:spTree>
    <p:extLst>
      <p:ext uri="{BB962C8B-B14F-4D97-AF65-F5344CB8AC3E}">
        <p14:creationId xmlns:p14="http://schemas.microsoft.com/office/powerpoint/2010/main" val="13314426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AE75D5-20E7-4456-9C09-AD18833A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1C884-F329-4255-A52C-D1EA0BAE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2A2CF9-5354-4B13-BD06-206A2ED5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E11B4-7133-4D1D-8DF2-E36383D3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C080C-BDF2-425A-84E3-0B02D4AE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567390-7AE3-4C08-9FC2-B38D4DA5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2FD8D-D6BB-4AA0-8D26-C0640632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C1CF7-EFD6-48A0-8BD2-ED7A6321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D7728-D142-4B69-A575-9BD39E8C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shared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2B16B-CFFA-45E4-97FB-970AC53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Shared code keeps the two nodes consistent.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3E090-493E-44A8-AAE4-9CDFCC6C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The project avoids two separate implementations by putting sensing, packet, queue, and controller logic in reusable modules.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F47402-9393-4757-82C4-1105CF78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3000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02928-2B10-4983-890A-0E057D5D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HardwareMap.h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E630D0-E971-475B-8342-4BDE20A9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669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pin source of truth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A/B sensors, LEDs, button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60AAB-18B4-41AA-9FDF-4C06E46D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24000"/>
            <a:ext cx="3000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65A2A1-7E81-4A07-B79E-EBF69108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SensorSupport.cpp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F87340-9895-47E9-A0A5-771015E9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669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HC-SR04 distance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median3 + debounce2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9CEAF-296F-42E1-8D46-4ADE163D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3000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72A3A-553C-4238-924C-C819BF4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61925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7A7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7A72D"/>
                </a:solidFill>
                <a:latin typeface="Aptos"/>
                <a:ea typeface="Aptos"/>
                <a:cs typeface="Aptos"/>
              </a:rPr>
              <a:t>TrafficSensing.cpp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FDCE47-9AF7-420B-AE12-DA1249C8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669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incoming/passed counters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queue estimate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C9AFF1-B14D-4923-BC13-01B882B3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3000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12AC22-3A0E-4410-99DF-492976BC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4320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NodeMessaging.cpp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FB6141-C661-41B3-924E-B621B6A8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908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LoRa CSV payload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backward-compatible decode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1AADA4-FA8E-4757-AC9F-960E5151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47950"/>
            <a:ext cx="3000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5C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D0BAF8-941B-40D6-AEE7-27E7CCAA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4320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5C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85C4A"/>
                </a:solidFill>
                <a:latin typeface="Aptos"/>
                <a:ea typeface="Aptos"/>
                <a:cs typeface="Aptos"/>
              </a:rPr>
              <a:t>AdaptiveController.cpp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D9F6D8-13D2-44E2-BA74-9A159681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demand score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min green + yellow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B608F-000B-4DA9-A09F-C0957129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47950"/>
            <a:ext cx="3000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B4E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7EF0DD-C393-424B-BE04-41E53986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4320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4E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4EFF"/>
                </a:solidFill>
                <a:latin typeface="Aptos"/>
                <a:ea typeface="Aptos"/>
                <a:cs typeface="Aptos"/>
              </a:rPr>
              <a:t>Ina219Support.cpp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EE3C5B-70F1-4AA0-82D4-B577038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908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optional current/power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INA219_NA if absent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07D3D4-49F3-4D43-8F65-57E58B49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810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BF4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D273B3-B49D-4C73-9F86-AE445827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Reliability layer after real-road testing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20B157-6373-4F42-8BE4-86441F3C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3238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Median filtering rejects one-sample ultrasonic spikes.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Debounce requires repeated agreement before occupancy changes.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Sensor health shows WARN/FAIL instead of hiding bad wiring or angle issues.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13F730-AC6E-46D9-8D60-FE92796C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590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262DA2-B470-4173-8D73-A1AD0961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191000"/>
            <a:ext cx="567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SensorSupport.cpp: final occupancy is filtered, thresholded, then debounced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42C678-C450-469B-A5A3-8DD34ECB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00550"/>
            <a:ext cx="56769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reading.distanceCm = readMedianUltrasonicDistanceCm(trigPin, echoPin,</a:t>
            </a:r>
          </a:p>
          <a:p xmlns:a="http://schemas.openxmlformats.org/drawingml/2006/main">
            <a:pPr algn="l">
              <a:defRPr sz="7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medianSampleCount, timeoutUs);</a:t>
            </a:r>
          </a:p>
          <a:p xmlns:a="http://schemas.openxmlformats.org/drawingml/2006/main">
            <a:pPr algn="l">
              <a:defRPr sz="7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reading.rawOccupied = isDistanceOccupied(reading.distanceCm, thresholdCm);</a:t>
            </a:r>
          </a:p>
          <a:p xmlns:a="http://schemas.openxmlformats.org/drawingml/2006/main">
            <a:pPr algn="l">
              <a:defRPr sz="7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reading.stableOccupied = debouncer.update(reading.rawOccupied, debounceSamples);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farHealth.update(farDistance);  // status: OK / WARN / FAIL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31D69A-2E8D-4080-85BE-6DAB1292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000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Speaker message: this slide shows that the software is engineered in layers, so every improvement is implemented once and reused by both boards.</a:t>
            </a:r>
          </a:p>
        </p:txBody>
      </p:sp>
    </p:spTree>
    <p:extLst>
      <p:ext uri="{BB962C8B-B14F-4D97-AF65-F5344CB8AC3E}">
        <p14:creationId xmlns:p14="http://schemas.microsoft.com/office/powerpoint/2010/main" val="3797155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D1A1A5-9408-4EB4-B902-6FD5C81A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93533-679C-48D0-A7E6-427C20E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2049D-31FE-4D7C-BD30-01ADF4E8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F98F8-33A6-416E-9B3F-A3D4B9D7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eq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091EA-3A01-4902-B519-35044F5C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98905-B885-4B1D-BB64-72A62D02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F8630-F224-4860-AA81-2F5F7E30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D794E-DD80-4B43-8C24-9D499220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57CAA1-C434-415D-BCFE-4AA65537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adaptive algorithm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FDC41-1652-4E76-99BC-2C77DDD4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The controller scores demand and switches safely.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9B2C2-08AC-4649-9A59-9FC02328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The algorithm is intentionally explainable: queue pressure is weighted, but timing and emergency rules prevent unstable behavior.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CEE46-75C8-4052-9C47-604F459B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4476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EF87E-2E9C-475B-98C6-6691D01D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716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Demand equation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4A81B-7338-41ED-BE11-BC634EF3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7170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demand = 3 x queue + 2 x farOcc + 4 x nearOcc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1FFC3-9592-4C32-BC5E-AA8B0B6C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336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Queue length matters most; the near sensor has extra weight because it means a vehicle is at the stop line.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BD7DB5-39BB-4D82-BBC4-E88367B9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571625"/>
            <a:ext cx="51911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9A856-F163-4395-82C1-3CB55DF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647825"/>
            <a:ext cx="4962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7A72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7A72D"/>
                </a:solidFill>
                <a:latin typeface="Aptos"/>
                <a:ea typeface="Aptos"/>
                <a:cs typeface="Aptos"/>
              </a:rPr>
              <a:t>TrafficTypes.h: exact demandScore() used by the firmware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F8A47E-4384-4D69-8AAA-62021CF8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857375"/>
            <a:ext cx="49625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uint32_t queueWeight = telemetry.estimatedQueue * 3U;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uint32_t incomingWeight = telemetry.farOccupied ? 2U : 0U;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uint32_t stopLineWeight = telemetry.nearOccupied ? 4U : 0U;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queueWeight + incomingWeight + stopLineWeight;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4264D1-1EC5-4DC0-8E92-C853B20E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50006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E85C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55D6C-6C23-4D5C-9771-389E0732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09950"/>
            <a:ext cx="4772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85C4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85C4A"/>
                </a:solidFill>
                <a:latin typeface="Aptos"/>
                <a:ea typeface="Aptos"/>
                <a:cs typeface="Aptos"/>
              </a:rPr>
              <a:t>AdaptiveController.cpp: switching is allowed only after safe timing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BB0A15-5A13-4E0D-89B8-F5F19F47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19500"/>
            <a:ext cx="4772025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bool canSwitch = phaseElapsedMs &gt;= config_.minGreenMs;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bool currentEmpty = !hasDemand(current);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bool otherBusy = hasDemand(other);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bool reachedMaxGreen = phaseElapsedMs &gt;= config_.maxGreenMs;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bool otherClearlyBusier =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demandScore(other) &gt; (demandScore(current) + config_.advantageMargin);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(canSwitch &amp;&amp; ((currentEmpty &amp;&amp; otherBusy) ||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(otherBusy &amp;&amp; otherClearlyBusier) || (reachedMaxGreen &amp;&amp; otherBusy))) {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beginYellow(other.side, nowMs);</a:t>
            </a:r>
          </a:p>
          <a:p xmlns:a="http://schemas.openxmlformats.org/drawingml/2006/main">
            <a:pPr algn="l">
              <a:defRPr sz="74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4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02B60-2E2A-41F8-96F8-68D61885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4667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BF4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CC051D-8B7D-4F98-AD18-7C51C708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67100"/>
            <a:ext cx="432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Improvements added after problems appeared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BE8200-D1EF-4F55-AA9B-F1EF4D6C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4267200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per-sensor threshold commands: set_thresholds 50 50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median-of-3 ultrasonic filtering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- 2-sample occupancy debounce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sensor health diagnostics: OK / WARN / FAIL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emergency button: 1 click = B, 2 clicks = A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stale Node A backup and recovery logging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8DE7D8-346B-4678-9ED8-0523D53D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000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Speaker message: the algorithm is not a black box. We can justify every number and explain every improvement as a response to measured behavior.</a:t>
            </a:r>
          </a:p>
        </p:txBody>
      </p:sp>
    </p:spTree>
    <p:extLst>
      <p:ext uri="{BB962C8B-B14F-4D97-AF65-F5344CB8AC3E}">
        <p14:creationId xmlns:p14="http://schemas.microsoft.com/office/powerpoint/2010/main" val="17864600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DE0595-3C3A-4743-9B76-EB825356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C1AD3-9B18-44EC-AA42-9C49A0A3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5AFE4-9724-46DC-8190-3025260E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B7E37-4B9B-4853-A124-EEF1A78A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724607-202E-4AE6-A9D2-C316169A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57C7C-20C0-409D-84E9-416995D9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EC750-74DC-48A8-9DD8-DF6B94C0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E08EF-A853-4E0D-8430-DBD47C63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5C2C4-318A-4B55-BC00-ADCB1029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communication before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9B596-7C01-485F-8C2A-877D399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Full packets became heartbeat mode.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5EFC2-2F76-4BD2-AA71-74AAA369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First we sent complete telemetry periodically; the improvement separates traffic data from node-alive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60700-49EB-423B-B9AC-D7085EF9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762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6F9B2-F267-42B9-B3A5-C10EBF7E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453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Before: full telemetry every 5 seconds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ADA78-3FE7-471F-84F2-CE4E7804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5339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(nowMs - lastTelemetryMs &gt;= 5000) {</a:t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lastTelemetryMs = nowMs;</a:t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payload = encodeTelemetry(telemetry);</a:t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sendTelemetryOverLoRa(payload);</a:t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Old packet:</a:t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A,farOcc,nearOcc,incoming,passed,queue,timestamp</a:t>
            </a:r>
          </a:p>
          <a:p xmlns:a="http://schemas.openxmlformats.org/drawingml/2006/main">
            <a:pPr algn="l">
              <a:defRPr sz="81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1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A,1,0,4,2,2,12345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AD93A-4356-4575-BBB2-95ABB736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524000"/>
            <a:ext cx="50006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EE3A65-7127-4481-A33E-607A00BC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600200"/>
            <a:ext cx="4772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Problem: silence looked like failure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E7A04-DBFF-45A8-B17A-B11D536C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809750"/>
            <a:ext cx="4772025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If packets stop, Node B cannot know why: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1) no cars, so Node A is quiet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2) Node A failed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3) LoRa link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(nowMs - lastRemoteRxMs &gt; timeoutMs) {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lastRemoteSource = "LORA_STALE";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backup = ON;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1EF7E-3C70-4F29-AA35-0171E1C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3143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1"/>
          </a:solidFill>
          <a:ln xmlns:a="http://schemas.openxmlformats.org/drawingml/2006/main" w="9525">
            <a:solidFill>
              <a:srgbClr val="E85C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FF2882-A787-4F16-9736-FF4AFEC3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9572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5C4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85C4A"/>
                </a:solidFill>
                <a:latin typeface="Georgia"/>
                <a:ea typeface="Georgia"/>
                <a:cs typeface="Georgia"/>
              </a:rPr>
              <a:t>What was missing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4BD8E6-FB6D-4483-B61D-677DC2F8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74320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full packets even when nothing changed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silence could mean empty road or failure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no heartbeat meaning node alive / no traffic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no peak-hour low-traffic-message mode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DA260A-DA4A-46A4-87D7-BD706905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62375"/>
            <a:ext cx="3143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83923D-9482-4288-826E-FE1BFFDC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9572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Why that mattered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111AC9-49ED-45D2-9D17-282CF56C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19575"/>
            <a:ext cx="274320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LoRa traffic wastes energy when repeated state is unchanged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stale detection can conflict with energy saving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backup mode may activate even when the road is simply empty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we need reliability and energy saving together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090EC9-BC29-4AB2-977B-A0A48126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62375"/>
            <a:ext cx="3143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9280BA-48C8-4E4A-BCC3-86C2979F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81450"/>
            <a:ext cx="2619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Energy-aware transition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3CED25-975A-4C21-89EE-CD6F1A64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8150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Active mode sends full telemetry. Idle or peak-saturated mode sends heartbeat only every long period. Node B keeps controlling the LEDs locally, while heartbeat proves both nodes are alive.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EAAA5-4B22-4878-B0C5-ED909D93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000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Speaker message: the improvement is not just fewer packets. It separates traffic telemetry from health heartbeat, so energy saving does not break failure detection.</a:t>
            </a:r>
          </a:p>
        </p:txBody>
      </p:sp>
    </p:spTree>
    <p:extLst>
      <p:ext uri="{BB962C8B-B14F-4D97-AF65-F5344CB8AC3E}">
        <p14:creationId xmlns:p14="http://schemas.microsoft.com/office/powerpoint/2010/main" val="8596719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808FBE-A1BD-41E3-801B-D8B195E8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781C5-BE2A-4890-9A29-2A7383E0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142AC-69A0-432F-BD8F-68D14FE8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0C081-8BAB-48AA-9520-3C5EB0F5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BB015-43C2-4C5E-B8B6-3F8BC9E1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CADE72-33D6-462A-80CE-48293DF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C471C-FA79-466C-AB72-A5F11B3B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90255-323B-4457-B41F-85E2BC85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CB533-C59A-4FF3-995C-9C93B31E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communication after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B8692-25FD-4543-9C95-64915120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Improved communication carries state and health.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89D8A-5FDF-4618-B974-44AAB5F5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Node B now uses packet freshness, backup mode, and a future heartbeat idea to avoid confusing empty traffic with failure.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A39E3-B733-470A-A8C2-B4B2DF62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47800"/>
            <a:ext cx="5048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E7ECBD-35B7-4D33-905C-C72F009E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81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Final packet format sent by Node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5F6CB-EE17-43DB-ACA1-0D7A4F32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481965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side,farOcc,nearOcc,incoming,passed,queue,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emergency,timestampMs,farDistanceCm,nearDistanceCm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Example:</a:t>
            </a:r>
          </a:p>
          <a:p xmlns:a="http://schemas.openxmlformats.org/drawingml/2006/main">
            <a:pPr algn="l">
              <a:defRPr sz="78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A,1,0,4,2,2,0,12345,42.0,999.0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4C4D97-E82D-4ED2-823F-11DF5EF7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47800"/>
            <a:ext cx="481012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6E857-8B41-4B5C-96D9-E98375DF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524000"/>
            <a:ext cx="4581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NodeMessaging.cpp: encodeTelemetry()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5B4928-F894-40E6-A394-34E2032D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733550"/>
            <a:ext cx="4581525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String(sideName(telemetry.side))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String(telemetry.farOccupied ? 1 : 0)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String(telemetry.nearOccupied ? 1 : 0)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String(telemetry.incomingCount)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String(telemetry.passedCount)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String(telemetry.estimatedQueue)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String(telemetry.emergencyRequested ? 1 : 0)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String(telemetry.timestampMs)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String(telemetry.farDistanceCm, 1) + "," +</a:t>
            </a:r>
          </a:p>
          <a:p xmlns:a="http://schemas.openxmlformats.org/drawingml/2006/main">
            <a:pPr algn="l">
              <a:defRPr sz="7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String(telemetry.nearDistanceCm, 1);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E7652D-9ACA-4E81-9B0C-5F8CA209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048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0EDB03-EE65-417B-A0EA-E9351DEC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481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E7A72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E7A72D"/>
                </a:solidFill>
                <a:latin typeface="Aptos"/>
                <a:ea typeface="Aptos"/>
                <a:cs typeface="Aptos"/>
              </a:rPr>
              <a:t>Node B: stale data becomes backup mode, not silent 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101120-80F8-493B-BF6F-E833263C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8196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(lastRemoteRxMs == 0 ||</a:t>
            </a:r>
          </a:p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(nowMs - lastRemoteRxMs) &gt; config::kRemoteTelemetryTimeoutMs) {</a:t>
            </a:r>
          </a:p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setNodeABackupActive(true, "NODE_A_STALE");</a:t>
            </a:r>
          </a:p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remoteTelemetryStale = true;</a:t>
            </a:r>
          </a:p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lastRemoteSource = "LORA_STALE";</a:t>
            </a:r>
          </a:p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makeNodeABackupTelemetry(nowMs);</a:t>
            </a:r>
          </a:p>
          <a:p xmlns:a="http://schemas.openxmlformats.org/drawingml/2006/main">
            <a:pPr algn="l">
              <a:defRPr sz="72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2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894439-395E-4986-B1EC-49CB1AE5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238500"/>
            <a:ext cx="48101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6B4E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203558-277F-4DA8-B642-6F8B7E2E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314700"/>
            <a:ext cx="4581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B4E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B4EFF"/>
                </a:solidFill>
                <a:latin typeface="Aptos"/>
                <a:ea typeface="Aptos"/>
                <a:cs typeface="Aptos"/>
              </a:rPr>
              <a:t>Future improvement: telemetry vs heartbeat modes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05C5A1-DF2C-48C0-9E3D-501FB701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24250"/>
            <a:ext cx="458152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(stateChanged || emergency) {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sendTelemetryNow();             // full traffic state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 else if (bothQueuesEmpty() || peakSaturated()) {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sendHeartbeatEvery(15000);      // alive, reduced LoRa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nodeBControlsLightsLocally();   // normal light logic continues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 else {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sendTelemetryEvery(1000);       // active adaptive mode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(millis() - lastHeartbeatMs &gt; failureTimeoutMs) {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markNodeFailed();</a:t>
            </a:r>
          </a:p>
          <a:p xmlns:a="http://schemas.openxmlformats.org/drawingml/2006/main">
            <a:pPr algn="l">
              <a:defRPr sz="6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6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63CFE7-40C1-481F-8FB4-84EC2918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95875"/>
            <a:ext cx="4905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BF4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BBC23C-05A4-452E-88D6-152FA9D7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4562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Communication improvement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FF450F-A0D1-41E4-A4AD-8DFDEF7F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53075"/>
            <a:ext cx="45053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stale LoRa becomes backup mode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heartbeat can reduce packets while failure timeout remains active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E2956-FAC0-4B72-8C04-6241DDDA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095875"/>
            <a:ext cx="48101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A5DA93-71C0-4F8A-9A50-04F1BEE0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86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Important limitation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58E0AE-465E-4DCC-AA08-A52A0EE3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81650"/>
            <a:ext cx="4191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If Node A sleeps completely, HC-SR04 cannot wake it by itself. True wake-on-car needs a low-power detector such as IR, magnetic, radar, or loop sensor.</a:t>
            </a:r>
          </a:p>
        </p:txBody>
      </p:sp>
    </p:spTree>
    <p:extLst>
      <p:ext uri="{BB962C8B-B14F-4D97-AF65-F5344CB8AC3E}">
        <p14:creationId xmlns:p14="http://schemas.microsoft.com/office/powerpoint/2010/main" val="27171189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EC4FA3-DF2D-4D42-9A8F-E02B901D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3C0DA-0B9E-4028-A1C1-E78B98EC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1ED6D-293C-4B6E-AE80-B1C95997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852E0-610F-4050-8E07-A4FA60A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A8BF07-55BA-4ACA-80F4-60F8194D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DE8E8-313C-4FEF-853C-8493CD3A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4B749-783E-444A-BCAF-B94BB825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2FF6A1-2BBC-4DF3-A921-C413D32C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FF6A4B-C0D5-436C-822E-151CFE7E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power and duty cycling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DEE053-D1BF-4688-8F6F-F9303826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Energy was measured before optimization.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FB12C-A111-4E5C-9A84-823EA228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The final demo reports INA219 baseline current, then proposes adaptive duty cycling without hiding node failures.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BE80E5-D9E1-4067-B6CD-29121666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51E94-0F20-49B0-A8AA-87644E44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6FEB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F6FEB"/>
                </a:solidFill>
                <a:latin typeface="Georgia"/>
                <a:ea typeface="Georgia"/>
                <a:cs typeface="Georgia"/>
              </a:rPr>
              <a:t>123.0 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CE100-C809-487E-B4F9-B08D5DCB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7642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Node A measured average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D4A07E-C824-4FF8-BEF6-EFE3B491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476375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FCF23A-0B6D-4FD1-8802-A0B11FC1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6210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174.8 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BAAAE-A768-4254-B35E-828176F5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87642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Node B measured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9A809-62CC-4C3F-972E-A6A5BD54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76375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B4E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8B89F-8958-4DCA-96CE-973D435C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6210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B4EFF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6B4EFF"/>
                </a:solidFill>
                <a:latin typeface="Georgia"/>
                <a:ea typeface="Georgia"/>
                <a:cs typeface="Georgia"/>
              </a:rPr>
              <a:t>297.9 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76B230-BD1C-48C7-B104-20C3AA45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7642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combined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EB0EA3-69A1-4D06-8DBE-59B19B31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76375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3AC0D-2EF2-4242-8BF5-46334120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6210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INA219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B29115-F6EB-4192-9689-108E965C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7642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measured, not guessed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2582D-13A4-42EA-B984-5A5F23DA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4095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6B4E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83879C-E358-4D93-9E84-6E0E0F12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3867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B4E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B4EFF"/>
                </a:solidFill>
                <a:latin typeface="Aptos"/>
                <a:ea typeface="Aptos"/>
                <a:cs typeface="Aptos"/>
              </a:rPr>
              <a:t>Current firmware: optional INA219 evidence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4C11AB-45B6-432D-82BF-8219CDC6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386715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lastPowerReading = ina219Read();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Serial.print(" | power=");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(lastPowerReading.ok) {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Serial.print(lastPowerReading.currentMa, 1);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Serial.print("mA/");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Serial.print(lastPowerReading.powerMw, 1);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Serial.println("mW");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 else {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Serial.println("INA219_NA");</a:t>
            </a:r>
          </a:p>
          <a:p xmlns:a="http://schemas.openxmlformats.org/drawingml/2006/main">
            <a:pPr algn="l">
              <a:defRPr sz="77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7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8D3ADD-9B4F-4553-9121-00605CDF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476500"/>
            <a:ext cx="5667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E62219-46D1-439E-9DE4-ACDEBCAF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552700"/>
            <a:ext cx="54387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38A4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8A43"/>
                </a:solidFill>
                <a:latin typeface="Aptos"/>
                <a:ea typeface="Aptos"/>
                <a:cs typeface="Aptos"/>
              </a:rPr>
              <a:t>Proposed improvement: adaptive duty cycle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EA8D83-FDDB-4815-A841-CFDEDE0C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762250"/>
            <a:ext cx="5438775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(bothQueuesEmpty()) {</a:t>
            </a:r>
          </a:p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telemetryPeriodMs = 10000;  // heartbeat / low activity</a:t>
            </a:r>
          </a:p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 else if (isPeakHour() &amp;&amp; bothSidesBusy()) {</a:t>
            </a:r>
          </a:p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telemetryPeriodMs = 3000;   // saturated traffic: fewer repeated updates</a:t>
            </a:r>
          </a:p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 else {</a:t>
            </a:r>
          </a:p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telemetryPeriodMs = 1000;   // normal adaptive control</a:t>
            </a:r>
          </a:p>
          <a:p xmlns:a="http://schemas.openxmlformats.org/drawingml/2006/main">
            <a:pPr algn="l">
              <a:defRPr sz="757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57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27F64F-F445-444E-B118-4071FDE0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1"/>
          </a:solidFill>
          <a:ln xmlns:a="http://schemas.openxmlformats.org/drawingml/2006/main" w="9525">
            <a:solidFill>
              <a:srgbClr val="E85C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6D26F3-5BDF-4ECF-94E7-D961B816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5C4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85C4A"/>
                </a:solidFill>
                <a:latin typeface="Georgia"/>
                <a:ea typeface="Georgia"/>
                <a:cs typeface="Georgia"/>
              </a:rPr>
              <a:t>Before improvement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416623-71B3-4650-A154-E61616D2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2743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fixed telemetry interval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continuous sensing and logging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Node B radio receive and LED load always active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baseline measured with INA219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0A7908-9D2F-46D0-97A0-F3A7D446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2862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BF4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957FCA-42C5-49B2-A455-A7A5E3F7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196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After improvement idea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D2C4E3-137F-42ED-8474-8E858CE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743450"/>
            <a:ext cx="2743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full telemetry only when state changes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heartbeat proves node is alive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longer failure timeout in idle mode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optional lower sampling in predictable peak saturation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442414-4C25-4CB4-A66F-E9E5E36B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8625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DA6C80-8E65-4C82-97F8-FAD536B1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4767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Sleep mode tradeoff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3E644D-F169-49DA-B924-D878F7C9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101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Periodic ESP sleep saves more energy, but can miss a car during sleep. Reliable wake-on-car needs an external low-power detector, then HC-SR04 confirms distance.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D7C270-4AD2-4465-8F4F-F7E39FD4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009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Speaker message: the numbers on this slide are measured baseline values; the duty-cycle logic is a justified future optimization, not claimed as already measured.</a:t>
            </a:r>
          </a:p>
        </p:txBody>
      </p:sp>
    </p:spTree>
    <p:extLst>
      <p:ext uri="{BB962C8B-B14F-4D97-AF65-F5344CB8AC3E}">
        <p14:creationId xmlns:p14="http://schemas.microsoft.com/office/powerpoint/2010/main" val="8282309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E6438-FAB4-40F0-9008-E40BCCE3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8E858-17AB-419A-98E2-F39ABF9E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EF2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A3173-0ABA-429D-8BDD-1D5A6770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81539-9052-45E8-BAB5-399EC60D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552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E743F-FB55-4217-9601-15720A97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C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71DFF-C027-4749-B2A5-D60CA7EF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7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FB51A-9134-4C5F-ADE6-E381BB67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4000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18D58-7A09-412E-BC5C-85891C27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24625"/>
            <a:ext cx="4191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Wait Less  |  Sapienza IoT - Final Delivery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B1996-BF68-4237-8885-D219DE70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24625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Software | simulators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584B0-ED83-4A23-AAA1-DAC9D719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72033"/>
                </a:solidFill>
                <a:latin typeface="Georgia"/>
                <a:ea typeface="Georgia"/>
                <a:cs typeface="Georgia"/>
              </a:rPr>
              <a:t>The simulator became a real-data replay tool.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E5CEC-B5CB-4990-9672-2B1F7D1A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066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We kept random/manual modes for testing, but the important final mode is CSV replay from the road run.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4CA6A-9A04-4CC1-BE87-D598526B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4762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badd0e42a4f05"/>
          <a:stretch xmlns:a="http://schemas.openxmlformats.org/drawingml/2006/main"/>
        </p:blipFill>
        <p:spPr>
          <a:xfrm xmlns:a="http://schemas.openxmlformats.org/drawingml/2006/main">
            <a:off x="675217" y="1581150"/>
            <a:ext cx="4555067" cy="256222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CE309E-9552-4423-9CD3-B245A35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504950"/>
            <a:ext cx="24288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8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356754-2FDF-47F2-AD93-AE1C297B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638300"/>
            <a:ext cx="20859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9D8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2A9D8F"/>
                </a:solidFill>
                <a:latin typeface="Georgia"/>
                <a:ea typeface="Georgia"/>
                <a:cs typeface="Georgia"/>
              </a:rPr>
              <a:t>Simulator modes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B0F7B5-18ED-4D01-B9A9-7A7011F6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962150"/>
            <a:ext cx="2028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CSV replay from road data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direct queue input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manual rates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random traffic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fixed scenarios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C066C-7C42-42B6-8A64-E76D0531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04950"/>
            <a:ext cx="24288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BF4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10C790-80F0-49EB-BD96-54D60015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38300"/>
            <a:ext cx="20859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A43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38A43"/>
                </a:solidFill>
                <a:latin typeface="Georgia"/>
                <a:ea typeface="Georgia"/>
                <a:cs typeface="Georgia"/>
              </a:rPr>
              <a:t>Why CSV replay matters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5C9315-5077-4E92-81F6-D4DF63F5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962150"/>
            <a:ext cx="2028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uses real sensor demand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shows queues visually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compares adaptive vs fixed-time idea</a:t>
            </a:r>
          </a:p>
          <a:p xmlns:a="http://schemas.openxmlformats.org/drawingml/2006/main">
            <a:pPr algn="l">
              <a:defRPr sz="938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- connects IoT evidence to digital twin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1148BD-3E1C-48A0-94CE-DDAF3DA8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095625"/>
            <a:ext cx="509587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76067-72B6-4CF3-8EC2-A4F93689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71825"/>
            <a:ext cx="4867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simulation/visual_simulator.py: road CSV becomes replay frames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0CD189-951F-401F-A041-349933D3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381375"/>
            <a:ext cx="48672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frames = load_road_frames(path)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self.csv_status_var.set(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"CSV replay loaded: " + csv_status_line(frames, path)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CSV fields used: A/B queues, distances, phase, green side,</a:t>
            </a:r>
          </a:p>
          <a:p xmlns:a="http://schemas.openxmlformats.org/drawingml/2006/main">
            <a:pPr algn="l">
              <a:defRPr sz="78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78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source=LORA_RADIO or LORA_STALE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2CC186-0924-4861-AD2C-8D767BBB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9625"/>
            <a:ext cx="10191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D"/>
          </a:solidFill>
          <a:ln xmlns:a="http://schemas.openxmlformats.org/drawingml/2006/main" w="9525">
            <a:solidFill>
              <a:srgbClr val="E7A72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FCAB77-E0AA-474F-B4D5-A84D7E83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72D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E7A72D"/>
                </a:solidFill>
                <a:latin typeface="Georgia"/>
                <a:ea typeface="Georgia"/>
                <a:cs typeface="Georgia"/>
              </a:rPr>
              <a:t>How to say this honestly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410F23-0F33-4AD4-B37A-7114A6E2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91125"/>
            <a:ext cx="933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simulator does not replace field evidence. It replays the measured demand from the road CSV so we can visualize and compare the controller behavior against a fixed-time baseline. That is the digital twin connection.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6CD8E-76EE-44BE-8718-5A82946D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009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575"/>
                </a:solidFill>
                <a:latin typeface="Aptos"/>
                <a:ea typeface="Aptos"/>
                <a:cs typeface="Aptos"/>
              </a:rPr>
              <a:t>End of software story: sensors -&gt; firmware -&gt; LoRa -&gt; controller -&gt; log -&gt; CSV -&gt; evaluation -&gt; replay.</a:t>
            </a:r>
          </a:p>
        </p:txBody>
      </p:sp>
    </p:spTree>
    <p:extLst>
      <p:ext uri="{BB962C8B-B14F-4D97-AF65-F5344CB8AC3E}">
        <p14:creationId xmlns:p14="http://schemas.microsoft.com/office/powerpoint/2010/main" val="1128734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2026-05-26T12:48:00.4240000Z</dcterms:created>
  <dcterms:modified xsi:type="dcterms:W3CDTF">2026-05-26T12:48:00.4240000Z</dcterms:modified>
</coreProperties>
</file>