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8f61419daa4a20" /><Relationship Type="http://schemas.openxmlformats.org/officeDocument/2006/relationships/extended-properties" Target="/docProps/app.xml" Id="R998970d8a4a440d4" /><Relationship Type="http://schemas.openxmlformats.org/officeDocument/2006/relationships/officeDocument" Target="/ppt/presentation.xml" Id="Rfdaaa5ed06c349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a0b5a5118b42eb"/>
  </p:sldMasterIdLst>
  <p:notesMasterIdLst>
    <p:notesMasterId xmlns:r="http://schemas.openxmlformats.org/officeDocument/2006/relationships" r:id="Rfa1602cd52fb43ee"/>
  </p:notesMasterIdLst>
  <p:sldIdLst>
    <p:sldId xmlns:r="http://schemas.openxmlformats.org/officeDocument/2006/relationships" id="256" r:id="R3a755585231c4065"/>
    <p:sldId xmlns:r="http://schemas.openxmlformats.org/officeDocument/2006/relationships" id="257" r:id="R411c925bcb6f43c8"/>
    <p:sldId xmlns:r="http://schemas.openxmlformats.org/officeDocument/2006/relationships" id="258" r:id="Re82de873298d4678"/>
    <p:sldId xmlns:r="http://schemas.openxmlformats.org/officeDocument/2006/relationships" id="259" r:id="R83392b88962d40ef"/>
    <p:sldId xmlns:r="http://schemas.openxmlformats.org/officeDocument/2006/relationships" id="260" r:id="R4152d1b8e54641a5"/>
    <p:sldId xmlns:r="http://schemas.openxmlformats.org/officeDocument/2006/relationships" id="261" r:id="Rb91b903bb32549ae"/>
    <p:sldId xmlns:r="http://schemas.openxmlformats.org/officeDocument/2006/relationships" id="262" r:id="R3b805880efea4baa"/>
    <p:sldId xmlns:r="http://schemas.openxmlformats.org/officeDocument/2006/relationships" id="263" r:id="R847d1281850f452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a0b5a5118b42eb" /><Relationship Type="http://schemas.openxmlformats.org/officeDocument/2006/relationships/theme" Target="/ppt/theme/theme1.xml" Id="R183a7170003442ea" /><Relationship Type="http://schemas.openxmlformats.org/officeDocument/2006/relationships/notesMaster" Target="/ppt/notesMasters/notesMaster1.xml" Id="Rfa1602cd52fb43ee" /><Relationship Type="http://schemas.openxmlformats.org/officeDocument/2006/relationships/presProps" Target="/ppt/presProps.xml" Id="R2b21841ae92f4c76" /><Relationship Type="http://schemas.openxmlformats.org/officeDocument/2006/relationships/viewProps" Target="/ppt/viewProps.xml" Id="R05b039a79dd84e46" /><Relationship Type="http://schemas.openxmlformats.org/officeDocument/2006/relationships/tableStyles" Target="/ppt/tableStyles.xml" Id="R793f54098c574dc0" /><Relationship Type="http://schemas.openxmlformats.org/officeDocument/2006/relationships/slide" Target="/ppt/slides/slide1.xml" Id="R3a755585231c4065" /><Relationship Type="http://schemas.openxmlformats.org/officeDocument/2006/relationships/slide" Target="/ppt/slides/slide2.xml" Id="R411c925bcb6f43c8" /><Relationship Type="http://schemas.openxmlformats.org/officeDocument/2006/relationships/slide" Target="/ppt/slides/slide3.xml" Id="Re82de873298d4678" /><Relationship Type="http://schemas.openxmlformats.org/officeDocument/2006/relationships/slide" Target="/ppt/slides/slide4.xml" Id="R83392b88962d40ef" /><Relationship Type="http://schemas.openxmlformats.org/officeDocument/2006/relationships/slide" Target="/ppt/slides/slide5.xml" Id="R4152d1b8e54641a5" /><Relationship Type="http://schemas.openxmlformats.org/officeDocument/2006/relationships/slide" Target="/ppt/slides/slide6.xml" Id="Rb91b903bb32549ae" /><Relationship Type="http://schemas.openxmlformats.org/officeDocument/2006/relationships/slide" Target="/ppt/slides/slide7.xml" Id="R3b805880efea4baa" /><Relationship Type="http://schemas.openxmlformats.org/officeDocument/2006/relationships/slide" Target="/ppt/slides/slide8.xml" Id="R847d1281850f45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eda0d06413342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d7b7b0ff974f31" /><Relationship Type="http://schemas.openxmlformats.org/officeDocument/2006/relationships/notesMaster" Target="/ppt/notesMasters/notesMaster1.xml" Id="R9c3acb357f664f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5f36f4b1614d18" /><Relationship Type="http://schemas.openxmlformats.org/officeDocument/2006/relationships/notesMaster" Target="/ppt/notesMasters/notesMaster1.xml" Id="Re961f5bdcdea44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eea1e473774162" /><Relationship Type="http://schemas.openxmlformats.org/officeDocument/2006/relationships/notesMaster" Target="/ppt/notesMasters/notesMaster1.xml" Id="Ra1994e07485f43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2d9495fc9f47ad" /><Relationship Type="http://schemas.openxmlformats.org/officeDocument/2006/relationships/notesMaster" Target="/ppt/notesMasters/notesMaster1.xml" Id="R137fe7aa9e4b4d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a319cd5f5b46ad" /><Relationship Type="http://schemas.openxmlformats.org/officeDocument/2006/relationships/notesMaster" Target="/ppt/notesMasters/notesMaster1.xml" Id="Ra69c729c7b244f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32f275892c4a63" /><Relationship Type="http://schemas.openxmlformats.org/officeDocument/2006/relationships/notesMaster" Target="/ppt/notesMasters/notesMaster1.xml" Id="R23aee9d9284844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c24c3810504628" /><Relationship Type="http://schemas.openxmlformats.org/officeDocument/2006/relationships/notesMaster" Target="/ppt/notesMasters/notesMaster1.xml" Id="Rc7cae33598754f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09dcf5fddf468a" /><Relationship Type="http://schemas.openxmlformats.org/officeDocument/2006/relationships/notesMaster" Target="/ppt/notesMasters/notesMaster1.xml" Id="R3aadb2fd1d2f49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5962d2ce654c8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24d809250e54841" /><Relationship Type="http://schemas.openxmlformats.org/officeDocument/2006/relationships/slideLayout" Target="/ppt/slideLayouts/slideLayout2.xml" Id="Rca47b922999147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47b922999147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0e196d58b648a1" /><Relationship Type="http://schemas.openxmlformats.org/officeDocument/2006/relationships/notesSlide" Target="/ppt/notesSlides/notesSlide1.xml" Id="R99d9e097018942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707fb583ec484c" /><Relationship Type="http://schemas.openxmlformats.org/officeDocument/2006/relationships/notesSlide" Target="/ppt/notesSlides/notesSlide2.xml" Id="Ra727dd9bbd5948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ef6e8ba49d4e50" /><Relationship Type="http://schemas.openxmlformats.org/officeDocument/2006/relationships/notesSlide" Target="/ppt/notesSlides/notesSlide3.xml" Id="Ra1786dcd9a684f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bc5658ec6a4f51" /><Relationship Type="http://schemas.openxmlformats.org/officeDocument/2006/relationships/notesSlide" Target="/ppt/notesSlides/notesSlide4.xml" Id="Rd367bf2da8e845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c78111bf4a4adc" /><Relationship Type="http://schemas.openxmlformats.org/officeDocument/2006/relationships/notesSlide" Target="/ppt/notesSlides/notesSlide5.xml" Id="Rf199096b464841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6cece108804c86" /><Relationship Type="http://schemas.openxmlformats.org/officeDocument/2006/relationships/notesSlide" Target="/ppt/notesSlides/notesSlide6.xml" Id="Rf41cc05c437b4f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0265d9f9f940ee" /><Relationship Type="http://schemas.openxmlformats.org/officeDocument/2006/relationships/notesSlide" Target="/ppt/notesSlides/notesSlide7.xml" Id="R677f1e469ccd4a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2a6e2cd2264047" /><Relationship Type="http://schemas.openxmlformats.org/officeDocument/2006/relationships/image" Target="/ppt/media/image.png" Id="R03a6863304bf4695" /><Relationship Type="http://schemas.openxmlformats.org/officeDocument/2006/relationships/notesSlide" Target="/ppt/notesSlides/notesSlide8.xml" Id="R42578666257741b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F93130-97D8-4F9E-A90D-2A100092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3FC847-67C6-48BA-AEFF-CB5B246E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EEF2F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D03A1-B3B5-40BC-83C8-24FAACCA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3288E-8B53-4849-9018-AB7FBB42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8625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{ 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035C52-AACC-4068-A245-23772543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A5B64F-F9C3-49F6-98C6-AD446B2B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7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6331C5-178A-44CC-ADF3-9D3B8455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DBD636-9B79-4ECA-9BC0-964BDE62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24625"/>
            <a:ext cx="419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Wait Less  |  Sapienza IoT - Final Delivery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D10576-7454-4039-A76E-1740EE87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524625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Software | general structure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0ABCF7-963E-465F-8F31-D1540C11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195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Software is a pipeline from sensing to evidence.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227CEA-8776-4C7D-9655-BAAEB98B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The code is not only a simulator: firmware, shared logic, logging tools, and replay all use the same data story.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FD7C07-2233-425F-8C5A-F334835C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1352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6F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1BAC7A-115B-431E-9909-3BCE2B63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57375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Sensors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559E11-CF7A-4C15-9920-4C727933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05025"/>
            <a:ext cx="1162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4 ultrasonic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far + near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579EF5-667A-4707-A06B-5E2FB423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028825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B657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38743D-77DC-4912-95DA-4E0F1590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762125"/>
            <a:ext cx="1352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38A4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A57F3C-85A6-40C3-8FDD-3FD0B2C3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857375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8A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8A43"/>
                </a:solidFill>
                <a:latin typeface="Aptos"/>
                <a:ea typeface="Aptos"/>
                <a:cs typeface="Aptos"/>
              </a:rPr>
              <a:t>Firmware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4264AD-EF87-4712-BEE9-8BBD06CA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105025"/>
            <a:ext cx="1162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Node A + Node B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ESP32 LoRa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C98EEF-9970-4255-98E1-ABAA5588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28825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B657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76A863-1423-47C9-8B56-EDDF826A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762125"/>
            <a:ext cx="1352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A72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312714-ECA5-4ED8-8023-701B7A7F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57375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A7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A72D"/>
                </a:solidFill>
                <a:latin typeface="Aptos"/>
                <a:ea typeface="Aptos"/>
                <a:cs typeface="Aptos"/>
              </a:rPr>
              <a:t>Shared logic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8B74B5-F2ED-4A9E-BE75-E840FD8C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05025"/>
            <a:ext cx="1162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sensing, queue,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controller, packets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A89A98-382C-4F9E-AF59-08D91AAB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028825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B657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80662D-99F1-4FAC-921B-4D27365B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62125"/>
            <a:ext cx="1352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9AA2C3-DCF3-43F0-9E1F-B22AAE47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57375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Logger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2F4E04-716D-4373-B6B5-0FBF1D25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05025"/>
            <a:ext cx="1162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serial B STATUS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saved CSV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F26181-3CD1-4530-A444-2F7E0C40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28825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B657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27E9E2-8BA7-4F58-904B-BE8A67EF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62125"/>
            <a:ext cx="1352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5C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05F69F-1B4B-4912-956B-D1970B59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57375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5C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85C4A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A32AB8-7945-4696-B8B5-A6BA140A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05025"/>
            <a:ext cx="1162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TP/TN/FP/FN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stale + energy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A8A844-B34E-4D6B-B1CB-8CF61086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28825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B657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F413E2-5B39-4176-9000-9D68D4EC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62125"/>
            <a:ext cx="1352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4E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BCB531-C4CD-4BC2-88E1-3FEA0781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57375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4E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4EFF"/>
                </a:solidFill>
                <a:latin typeface="Aptos"/>
                <a:ea typeface="Aptos"/>
                <a:cs typeface="Aptos"/>
              </a:rPr>
              <a:t>Simulator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D1CC59-3765-45FD-81CC-A9858B8A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05025"/>
            <a:ext cx="1162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CSV replay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digital twin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5C1828-D792-49FA-A0FB-946B7116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90875"/>
            <a:ext cx="5048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1F6F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B0BF2A-276E-47B6-8F6A-21894762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67075"/>
            <a:ext cx="481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Repository structure used in the software slides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084CFB-3453-4208-854D-DEA2FCEE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48196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firmware/node_a/main.cpp       // Side A sensing + LoRa TX</a:t>
            </a:r>
          </a:p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firmware/node_b/main.cpp       // Side B sensing + control</a:t>
            </a:r>
          </a:p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lib/traffic_control/           // shared logic used by both nodes</a:t>
            </a:r>
          </a:p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tools/road_data_logger.py      // live serial -&gt; CSV evidence</a:t>
            </a:r>
          </a:p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tools/final_evidence_report.py // metrics and report</a:t>
            </a:r>
          </a:p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simulation/visual_simulator.py // CSV replay / digital twin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15F326-14F3-4DF5-8A38-29A9252B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90875"/>
            <a:ext cx="4953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4F328A-FB0A-4900-95E5-63F0B368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09950"/>
            <a:ext cx="428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A9D8F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2A9D8F"/>
                </a:solidFill>
                <a:latin typeface="Georgia"/>
                <a:ea typeface="Georgia"/>
                <a:cs typeface="Georgia"/>
              </a:rPr>
              <a:t>What this proves to the professor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689DCA-9851-4FC7-9A5D-94A78C19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10000"/>
            <a:ext cx="4381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Real sensor readings are converted into queue states.</a:t>
            </a:r>
          </a:p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Node A and Node B communicate through LoRa packets.</a:t>
            </a:r>
          </a:p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Node B makes the final light decision locally.</a:t>
            </a:r>
          </a:p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The same live log becomes CSV, metrics, graphs, and simulator replay.</a:t>
            </a:r>
          </a:p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Improvements are visible in code: filtering, stale handling, emergency, energy logging.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CF2746B-A8EA-490E-A507-156E19F1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0"/>
            <a:ext cx="1009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Speaker message: each later slide zooms into one layer of this pipeline, then shows how we improved it after testing.</a:t>
            </a:r>
          </a:p>
        </p:txBody>
      </p:sp>
    </p:spTree>
    <p:extLst>
      <p:ext uri="{BB962C8B-B14F-4D97-AF65-F5344CB8AC3E}">
        <p14:creationId xmlns:p14="http://schemas.microsoft.com/office/powerpoint/2010/main" val="11135572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467F31-8EDE-4C1A-94EB-7903CA88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74339-B1DE-4DFB-AB94-CD3DC387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EEF2F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79BAD9-BF2A-4ED9-924F-0E29813B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B210DE-832D-45F5-A4E7-AFBC3449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8625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A/B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21625F-AADE-4A66-AB1B-E21B5047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2F4FE0-B22D-4ABA-AB91-C61F969B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7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EE58BF-03F9-4DFA-8AFE-9B5FC3C2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CF58CC-4297-4225-ACB5-F8A29B02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24625"/>
            <a:ext cx="419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Wait Less  |  Sapienza IoT - Final Delivery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15A98-F31D-4496-A854-533D2688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524625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Software | node firmware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CABF13-5F31-429A-B0F6-BE185E10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195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Node A senses; Node B decides and controls.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5DFBFF-2F8A-4B4E-8D59-9B6A7E87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The two ESP32 programs have different roles, but they share the same telemetry and sensing model.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817385-FD1E-4FA6-A3ED-AA2D3BB7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25241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F"/>
          </a:solidFill>
          <a:ln xmlns:a="http://schemas.openxmlformats.org/drawingml/2006/main" w="9525">
            <a:solidFill>
              <a:srgbClr val="1F6F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3522A1-E5ED-40F9-B95D-EAE1CE1A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21812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FEB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F6FEB"/>
                </a:solidFill>
                <a:latin typeface="Georgia"/>
                <a:ea typeface="Georgia"/>
                <a:cs typeface="Georgia"/>
              </a:rPr>
              <a:t>Node A responsibilities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D15A73-9E8B-49FB-A172-64CE0E08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21240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read A_far and A_near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filter + debounce occupancy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estimate Side A queue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encode LoRa telemetry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print human-readable status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2FCEA2-A526-4340-83F0-60C9438F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25241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BF4"/>
          </a:solidFill>
          <a:ln xmlns:a="http://schemas.openxmlformats.org/drawingml/2006/main" w="9525">
            <a:solidFill>
              <a:srgbClr val="138A4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2EE73C-CFED-40BF-829E-F9764AB5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21812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8A43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38A43"/>
                </a:solidFill>
                <a:latin typeface="Georgia"/>
                <a:ea typeface="Georgia"/>
                <a:cs typeface="Georgia"/>
              </a:rPr>
              <a:t>Node B responsibilities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18AA22-007D-4DAA-9B29-4AD79D8E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21240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read B_far and B_near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receive Node A telemetry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detect stale LoRa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run adaptive controller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drive all six LEDs and log CSV 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28ABEA-B923-4679-BC11-C5AF609C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524000"/>
            <a:ext cx="3524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1F6F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7845FC-F172-46B2-B82C-470073E7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600200"/>
            <a:ext cx="3295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Node A: sensor state becomes LoRa payload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935D42-E427-485D-BE17-33A6C362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809750"/>
            <a:ext cx="32956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80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SideTelemetry telemetry =</a:t>
            </a:r>
          </a:p>
          <a:p xmlns:a="http://schemas.openxmlformats.org/drawingml/2006/main">
            <a:pPr algn="l">
              <a:defRPr sz="80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80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laneEstimator.update(SideId::A,</a:t>
            </a:r>
          </a:p>
          <a:p xmlns:a="http://schemas.openxmlformats.org/drawingml/2006/main">
            <a:pPr algn="l">
              <a:defRPr sz="80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80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  farOccupied, nearOccupied, nowMs);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0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80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telemetry.farDistanceCm = farDistance;</a:t>
            </a:r>
          </a:p>
          <a:p xmlns:a="http://schemas.openxmlformats.org/drawingml/2006/main">
            <a:pPr algn="l">
              <a:defRPr sz="80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80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telemetry.nearDistanceCm = nearDistance;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0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80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const String payload = encodeTelemetry(telemetry);</a:t>
            </a:r>
          </a:p>
          <a:p xmlns:a="http://schemas.openxmlformats.org/drawingml/2006/main">
            <a:pPr algn="l">
              <a:defRPr sz="80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80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sendTelemetryOverLoRa(payload);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75CFCA-259F-4659-A22E-DCB689C6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29000"/>
            <a:ext cx="3524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138A4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5B0A3F-70C6-4F6E-B31B-0CCD6D5A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505200"/>
            <a:ext cx="3295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38A4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38A43"/>
                </a:solidFill>
                <a:latin typeface="Aptos"/>
                <a:ea typeface="Aptos"/>
                <a:cs typeface="Aptos"/>
              </a:rPr>
              <a:t>Node B: combine A + B, then apply lights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9AA14C-100C-4ECE-8FD5-5ED2D0EE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714750"/>
            <a:ext cx="32956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if (loRaTryReceive(packet, Serial)) {</a:t>
            </a:r>
          </a:p>
          <a:p xmlns:a="http://schemas.openxmlformats.org/drawingml/2006/main">
            <a:pPr algn="l">
              <a:defRPr sz="78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parseTelemetryLine(packet.payload, received);</a:t>
            </a:r>
          </a:p>
          <a:p xmlns:a="http://schemas.openxmlformats.org/drawingml/2006/main">
            <a:pPr algn="l">
              <a:defRPr sz="78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lastRemoteRxMs = nowMs;</a:t>
            </a:r>
          </a:p>
          <a:p xmlns:a="http://schemas.openxmlformats.org/drawingml/2006/main">
            <a:pPr algn="l">
              <a:defRPr sz="78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8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SideTelemetry remote = effectiveRemoteTelemetry(nowMs);</a:t>
            </a:r>
          </a:p>
          <a:p xmlns:a="http://schemas.openxmlformats.org/drawingml/2006/main">
            <a:pPr algn="l">
              <a:defRPr sz="78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TrafficDecision decision =</a:t>
            </a:r>
          </a:p>
          <a:p xmlns:a="http://schemas.openxmlformats.org/drawingml/2006/main">
            <a:pPr algn="l">
              <a:defRPr sz="78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controller.update(remote, localTelemetry, nowMs);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8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applyLights(decision.lights);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60CC48-B8C7-4AA1-A8A2-12571F0D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63830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6F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23C22F-182B-42C9-9A2A-1B75357D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7240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6FEB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F6FEB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07DE32-0164-4A08-BECD-D41172F9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0383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physical ultrasonic readings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1A9372-9AF1-4E89-96B4-2D25D457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63830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38A4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B5CB98-D994-485D-89B8-C32637DA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7240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8A43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38A43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65E1F4-26BF-48EF-B3A3-6FBC1DEA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383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LoRa direction: A to 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216788-54D1-470C-BCAF-40B6A2F2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59080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5C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F90325-1DF7-485E-8343-95E1B363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6765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85C4A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E85C4A"/>
                </a:solidFill>
                <a:latin typeface="Georgia"/>
                <a:ea typeface="Georgia"/>
                <a:cs typeface="Georgia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E50505-7A5F-4E86-B0C9-A5303B72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9908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LED outputs on Node 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FF691D-82E1-4379-A396-38140CCB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9080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A72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0E08F3-A8D4-4467-B92E-721FF7F5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765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A72D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E7A72D"/>
                </a:solidFill>
                <a:latin typeface="Georgia"/>
                <a:ea typeface="Georgia"/>
                <a:cs typeface="Georgia"/>
              </a:rPr>
              <a:t>50 cm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DCF9BC-627A-49B1-B734-B4696EDC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908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live demo threshold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210CA8-1559-468E-9DD7-2F9400E2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762375"/>
            <a:ext cx="33051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011A4F-1DDB-4440-8C49-BC2F5EF1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838575"/>
            <a:ext cx="30765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Live demo line proves all roles are active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8A7EBD-B55F-4BCA-86DE-1828B1A9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048125"/>
            <a:ext cx="30765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1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B STATUS | A_queue=... | B_queue=...</a:t>
            </a:r>
          </a:p>
          <a:p xmlns:a="http://schemas.openxmlformats.org/drawingml/2006/main">
            <a:pPr algn="l">
              <a:defRPr sz="71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1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| A_far=...cm/OCC | B_far=...cm/FREE</a:t>
            </a:r>
          </a:p>
          <a:p xmlns:a="http://schemas.openxmlformats.org/drawingml/2006/main">
            <a:pPr algn="l">
              <a:defRPr sz="71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1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| source=LORA_RADIO | stale=OFF</a:t>
            </a:r>
          </a:p>
          <a:p xmlns:a="http://schemas.openxmlformats.org/drawingml/2006/main">
            <a:pPr algn="l">
              <a:defRPr sz="71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1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| backup=OFF | green=A | lights=A:GREEN B:RED</a:t>
            </a:r>
          </a:p>
        </p:txBody>
      </p:sp>
    </p:spTree>
    <p:extLst>
      <p:ext uri="{BB962C8B-B14F-4D97-AF65-F5344CB8AC3E}">
        <p14:creationId xmlns:p14="http://schemas.microsoft.com/office/powerpoint/2010/main" val="95859771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35ACC5-0B56-4C4B-9306-37C1BD8D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281535-5179-4DD7-B393-9900F998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EEF2F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AC5EA-9301-4C5D-9B28-AD334B93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7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36A828-9EAB-4D26-9399-E9ED401B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8625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18B85-A2CB-4E6C-AA61-AE9A7F93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983C5-4013-482A-82E8-A16402C4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7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2887CC-AF0D-46F9-8C08-6E158D43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CB4839-B038-4D49-BAEC-25A99C3B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24625"/>
            <a:ext cx="419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Wait Less  |  Sapienza IoT - Final Delivery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128F8F-157A-4380-B441-5C9D1AB2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524625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Software | shared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9DDE38-58AE-4390-9C62-1157A25A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195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Shared code keeps the two nodes consistent.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CA572C-C580-4C08-BDB8-2F35229E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The project avoids two separate implementations by putting sensing, packet, queue, and controller logic in reusable modules.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D9539D-2A1C-4680-9D66-073AC0C5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3000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6F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22300C-8DD4-4C29-99BC-F08226FC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2809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HardwareMap.h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D1DEAE-43E9-4713-AAF1-BB7BB4AB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2809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pin source of truth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A/B sensors, LEDs, button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372F54-C8A4-4B4D-869A-9788E66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24000"/>
            <a:ext cx="3000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38A4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468BA2-B0CC-478E-AFA8-0BCED244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19250"/>
            <a:ext cx="2809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8A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8A43"/>
                </a:solidFill>
                <a:latin typeface="Aptos"/>
                <a:ea typeface="Aptos"/>
                <a:cs typeface="Aptos"/>
              </a:rPr>
              <a:t>SensorSupport.cpp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7E0827-CD89-4645-9433-7E1DEE3A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66900"/>
            <a:ext cx="2809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HC-SR04 distance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median3 + debounce2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6960AF-B6FD-4373-B70F-244CC5A9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000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A72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E91E27-E73A-4744-8FCA-8384EA4D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19250"/>
            <a:ext cx="2809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A7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A72D"/>
                </a:solidFill>
                <a:latin typeface="Aptos"/>
                <a:ea typeface="Aptos"/>
                <a:cs typeface="Aptos"/>
              </a:rPr>
              <a:t>TrafficSensing.cpp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E1ADE4-0155-4E90-AC2B-E3DA18FC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66900"/>
            <a:ext cx="2809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incoming/passed counters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queue estimate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470DF9-656A-4A98-9F8D-63F1C87F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3000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28142C-9E6E-4848-8728-ECCC6172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43200"/>
            <a:ext cx="2809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NodeMessaging.cpp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3D9161-DACE-4159-9C2B-8D8554BB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90850"/>
            <a:ext cx="2809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LoRa CSV payload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backward-compatible decode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3FCAA9-C2DC-480A-AA07-D6E9E92D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47950"/>
            <a:ext cx="3000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5C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523994-90D3-459E-AB60-3C7183BA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43200"/>
            <a:ext cx="2809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5C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85C4A"/>
                </a:solidFill>
                <a:latin typeface="Aptos"/>
                <a:ea typeface="Aptos"/>
                <a:cs typeface="Aptos"/>
              </a:rPr>
              <a:t>AdaptiveController.cpp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AA830B-25CF-4A5D-905F-496F301F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90850"/>
            <a:ext cx="2809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demand score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min green + yellow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225D17-72AC-4230-9F69-F626BA92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47950"/>
            <a:ext cx="3000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4E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373A5B-452E-40DD-9676-3177F7BC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43200"/>
            <a:ext cx="2809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4E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4EFF"/>
                </a:solidFill>
                <a:latin typeface="Aptos"/>
                <a:ea typeface="Aptos"/>
                <a:cs typeface="Aptos"/>
              </a:rPr>
              <a:t>Ina219Support.cpp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17A624-5CAF-4C73-B944-50A781AD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90850"/>
            <a:ext cx="2809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optional current/power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INA219_NA if absent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22FF97-BDC6-4327-A126-189EF13D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14800"/>
            <a:ext cx="3810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BF4"/>
          </a:solidFill>
          <a:ln xmlns:a="http://schemas.openxmlformats.org/drawingml/2006/main" w="9525">
            <a:solidFill>
              <a:srgbClr val="138A4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B60627-850B-4542-B24E-B629C13B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8A43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38A43"/>
                </a:solidFill>
                <a:latin typeface="Georgia"/>
                <a:ea typeface="Georgia"/>
                <a:cs typeface="Georgia"/>
              </a:rPr>
              <a:t>Reliability layer after real-road testing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DD5B92-7E00-482B-BEF7-229A2AEA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Median filtering rejects one-sample ultrasonic spikes.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Debounce requires repeated agreement before occupancy changes.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Sensor health shows WARN/FAIL instead of hiding bad wiring or angle issues.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D73C4D-556B-4BDE-8898-B42BFDB0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14800"/>
            <a:ext cx="590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138A4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43F6F2-E054-4285-B2B4-7B61CF0C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191000"/>
            <a:ext cx="567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38A4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38A43"/>
                </a:solidFill>
                <a:latin typeface="Aptos"/>
                <a:ea typeface="Aptos"/>
                <a:cs typeface="Aptos"/>
              </a:rPr>
              <a:t>SensorSupport.cpp: final occupancy is filtered, thresholded, then debounced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D38314-D24F-4869-B92C-12D21950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00550"/>
            <a:ext cx="56769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6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reading.distanceCm = readMedianUltrasonicDistanceCm(trigPin, echoPin,</a:t>
            </a:r>
          </a:p>
          <a:p xmlns:a="http://schemas.openxmlformats.org/drawingml/2006/main">
            <a:pPr algn="l">
              <a:defRPr sz="76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6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medianSampleCount, timeoutUs);</a:t>
            </a:r>
          </a:p>
          <a:p xmlns:a="http://schemas.openxmlformats.org/drawingml/2006/main">
            <a:pPr algn="l">
              <a:defRPr sz="76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6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reading.rawOccupied = isDistanceOccupied(reading.distanceCm, thresholdCm);</a:t>
            </a:r>
          </a:p>
          <a:p xmlns:a="http://schemas.openxmlformats.org/drawingml/2006/main">
            <a:pPr algn="l">
              <a:defRPr sz="76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6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reading.stableOccupied = debouncer.update(reading.rawOccupied, debounceSamples);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6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6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farHealth.update(farDistance);  // status: OK / WARN / FAIL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4AADDA-4E47-4877-9A8C-91762D91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1000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Speaker message: this slide shows that the software is engineered in layers, so every improvement is implemented once and reused by both boards.</a:t>
            </a:r>
          </a:p>
        </p:txBody>
      </p:sp>
    </p:spTree>
    <p:extLst>
      <p:ext uri="{BB962C8B-B14F-4D97-AF65-F5344CB8AC3E}">
        <p14:creationId xmlns:p14="http://schemas.microsoft.com/office/powerpoint/2010/main" val="182801578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4F55EE-08D4-4D94-BACC-ACED83B6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D885F2-FE46-4E3F-B355-A6A165F1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EEF2F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E2B89C-AA7C-4C6F-ACF9-F0579981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574D6A-1C1A-42F0-A265-88DE367C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8625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eq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94829A-9B33-4CA4-9EF9-232D18BD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00CDF8-E50F-4020-868D-FBCC287A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7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DC7269-5090-4A0E-B214-1B9AC093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28B4A7-61F5-44B0-B3F7-F9E8AF97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24625"/>
            <a:ext cx="419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Wait Less  |  Sapienza IoT - Final Delivery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E7AD57-5EE9-46CA-BB3D-C6629AB7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524625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Software | adaptive algorithm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11E70C-A997-4C26-9DCC-5E41D0C3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195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The controller scores demand and switches safely.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F4E968-365F-4042-B2A6-942871A0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The algorithm is intentionally explainable: queue pressure is weighted, but timing and emergency rules prevent unstable behavior.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10E3DB-63CA-4D98-A3F0-255C6AD5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4476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E7A72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798442-FF4B-4C8F-A63E-0EDA833A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716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A72D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E7A72D"/>
                </a:solidFill>
                <a:latin typeface="Georgia"/>
                <a:ea typeface="Georgia"/>
                <a:cs typeface="Georgia"/>
              </a:rPr>
              <a:t>Demand 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E0F085-414F-4914-BEE8-55748E06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717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demand = 3 x queue + 2 x farOcc + 4 x nearOcc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1FD5E1-D921-453E-9E9E-C2EEF4C3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336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Queue length matters most; the near sensor has extra weight because it means a vehicle is at the stop line.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875839-4F8E-4CCD-B5F6-CEBF6647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571625"/>
            <a:ext cx="51911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E7A72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8CEF6C-E61B-4ACC-88BA-4A18A8BF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1647825"/>
            <a:ext cx="4962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7A72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7A72D"/>
                </a:solidFill>
                <a:latin typeface="Aptos"/>
                <a:ea typeface="Aptos"/>
                <a:cs typeface="Aptos"/>
              </a:rPr>
              <a:t>TrafficTypes.h: exact demandScore() used by the firmware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A57024-8B15-4C11-9BFA-EEBCD63F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1857375"/>
            <a:ext cx="49625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const uint32_t queueWeight = telemetry.estimatedQueue * 3U;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const uint32_t incomingWeight = telemetry.farOccupied ? 2U : 0U;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const uint32_t stopLineWeight = telemetry.nearOccupied ? 4U : 0U;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return queueWeight + incomingWeight + stopLineWeight;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EFF575-FF51-430A-82A4-EB0EFA0B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0"/>
            <a:ext cx="500062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E85C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AFCB88-07AD-4521-A46B-DAAB2B8B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09950"/>
            <a:ext cx="4772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C4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85C4A"/>
                </a:solidFill>
                <a:latin typeface="Aptos"/>
                <a:ea typeface="Aptos"/>
                <a:cs typeface="Aptos"/>
              </a:rPr>
              <a:t>AdaptiveController.cpp: switching is allowed only after safe timing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CF5BAA-ED28-4E86-B3B2-2E069A37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19500"/>
            <a:ext cx="4772025" cy="1419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4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const bool canSwitch = phaseElapsedMs &gt;= config_.minGreenMs;</a:t>
            </a:r>
          </a:p>
          <a:p xmlns:a="http://schemas.openxmlformats.org/drawingml/2006/main">
            <a:pPr algn="l">
              <a:defRPr sz="74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4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const bool currentEmpty = !hasDemand(current);</a:t>
            </a:r>
          </a:p>
          <a:p xmlns:a="http://schemas.openxmlformats.org/drawingml/2006/main">
            <a:pPr algn="l">
              <a:defRPr sz="74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4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const bool otherBusy = hasDemand(other);</a:t>
            </a:r>
          </a:p>
          <a:p xmlns:a="http://schemas.openxmlformats.org/drawingml/2006/main">
            <a:pPr algn="l">
              <a:defRPr sz="74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4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const bool reachedMaxGreen = phaseElapsedMs &gt;= config_.maxGreenMs;</a:t>
            </a:r>
          </a:p>
          <a:p xmlns:a="http://schemas.openxmlformats.org/drawingml/2006/main">
            <a:pPr algn="l">
              <a:defRPr sz="74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4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const bool otherClearlyBusier =</a:t>
            </a:r>
          </a:p>
          <a:p xmlns:a="http://schemas.openxmlformats.org/drawingml/2006/main">
            <a:pPr algn="l">
              <a:defRPr sz="74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4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demandScore(other) &gt; (demandScore(current) + config_.advantageMargin);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4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4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if (canSwitch &amp;&amp; ((currentEmpty &amp;&amp; otherBusy) ||</a:t>
            </a:r>
          </a:p>
          <a:p xmlns:a="http://schemas.openxmlformats.org/drawingml/2006/main">
            <a:pPr algn="l">
              <a:defRPr sz="74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4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  (otherBusy &amp;&amp; otherClearlyBusier) || (reachedMaxGreen &amp;&amp; otherBusy))) {</a:t>
            </a:r>
          </a:p>
          <a:p xmlns:a="http://schemas.openxmlformats.org/drawingml/2006/main">
            <a:pPr algn="l">
              <a:defRPr sz="74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4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beginYellow(other.side, nowMs);</a:t>
            </a:r>
          </a:p>
          <a:p xmlns:a="http://schemas.openxmlformats.org/drawingml/2006/main">
            <a:pPr algn="l">
              <a:defRPr sz="74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4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A5D16B-654A-41F5-BE0B-A0D32D60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46672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BF4"/>
          </a:solidFill>
          <a:ln xmlns:a="http://schemas.openxmlformats.org/drawingml/2006/main" w="9525">
            <a:solidFill>
              <a:srgbClr val="138A4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BC6380-D482-411B-A76E-9022DC60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67100"/>
            <a:ext cx="432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8A43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38A43"/>
                </a:solidFill>
                <a:latin typeface="Georgia"/>
                <a:ea typeface="Georgia"/>
                <a:cs typeface="Georgia"/>
              </a:rPr>
              <a:t>Improvements added after problems appeared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9F0E4E-3711-4F9A-8D06-43D45C6F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90950"/>
            <a:ext cx="4267200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per-sensor threshold commands: set_thresholds 50 50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median-of-3 ultrasonic filtering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- 2-sample occupancy debounce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sensor health diagnostics: OK / WARN / FAIL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emergency button: 1 click = B, 2 clicks = A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stale Node A backup and recovery logging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10C5F3-08E8-4F16-BD94-D03CF30C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1000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Speaker message: the algorithm is not a black box. We can justify every number and explain every improvement as a response to measured behavior.</a:t>
            </a:r>
          </a:p>
        </p:txBody>
      </p:sp>
    </p:spTree>
    <p:extLst>
      <p:ext uri="{BB962C8B-B14F-4D97-AF65-F5344CB8AC3E}">
        <p14:creationId xmlns:p14="http://schemas.microsoft.com/office/powerpoint/2010/main" val="82859821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305D70-9B70-435C-B009-75184363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859252-CAD0-4786-83D9-88599ADC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EEF2F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2AE4A8-848D-4C76-919F-A10C4889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85F53-7693-4256-BE6A-986B56F6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8625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F8BF1C-5ADD-40E6-9CDE-9F9A019C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6E6ED1-0B51-47BD-89E4-F4ABAEDA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7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8B959F-232E-4C0E-AD25-0947C12F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1E52F1-3FBF-4AFF-91C8-EA1625F7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24625"/>
            <a:ext cx="419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Wait Less  |  Sapienza IoT - Final Delivery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26AD5F-0386-49D3-A9E5-F1350902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524625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Software | communication before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6EA08C-E523-4A03-A450-6E684EFD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195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Full packets became heartbeat mode.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B999E9-4AF0-4382-A317-B1A1B82C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First we sent complete telemetry periodically; the improvement separates traffic data from node-alive signals.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1DE9AE-7F10-4C0A-AF0B-6FC1D1CE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4762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1F6F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628596-5D1E-4C8D-9507-F0ED9A7C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453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Before: full telemetry every 5 seconds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6D42AC-E124-4795-93E8-CF75B0F9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533900" cy="1419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if (nowMs - lastTelemetryMs &gt;= 5000) {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lastTelemetryMs = nowMs;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payload = encodeTelemetry(telemetry);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sendTelemetryOverLoRa(payload);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Old packet: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A,farOcc,nearOcc,incoming,passed,queue,timestamp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A,1,0,4,2,2,12345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5D934E-070A-4B9B-942D-CCC61A26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524000"/>
            <a:ext cx="500062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1F6F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76FFF7-7B9F-43B4-92DB-CB1BA9E1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600200"/>
            <a:ext cx="4772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Problem: silence looked like failure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68B66B-FD29-4B65-8F14-7B25712A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809750"/>
            <a:ext cx="4772025" cy="1419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// If packets stop, Node B cannot know why:</a:t>
            </a:r>
          </a:p>
          <a:p xmlns:a="http://schemas.openxmlformats.org/drawingml/2006/main">
            <a:pPr algn="l">
              <a:defRPr sz="78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// 1) no cars, so Node A is quiet</a:t>
            </a:r>
          </a:p>
          <a:p xmlns:a="http://schemas.openxmlformats.org/drawingml/2006/main">
            <a:pPr algn="l">
              <a:defRPr sz="78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// 2) Node A failed</a:t>
            </a:r>
          </a:p>
          <a:p xmlns:a="http://schemas.openxmlformats.org/drawingml/2006/main">
            <a:pPr algn="l">
              <a:defRPr sz="78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// 3) LoRa link failed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8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if (nowMs - lastRemoteRxMs &gt; timeoutMs) {</a:t>
            </a:r>
          </a:p>
          <a:p xmlns:a="http://schemas.openxmlformats.org/drawingml/2006/main">
            <a:pPr algn="l">
              <a:defRPr sz="78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lastRemoteSource = "LORA_STALE";</a:t>
            </a:r>
          </a:p>
          <a:p xmlns:a="http://schemas.openxmlformats.org/drawingml/2006/main">
            <a:pPr algn="l">
              <a:defRPr sz="78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backup = ON;</a:t>
            </a:r>
          </a:p>
          <a:p xmlns:a="http://schemas.openxmlformats.org/drawingml/2006/main">
            <a:pPr algn="l">
              <a:defRPr sz="78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11DB93-1F23-4631-B7EC-2C856B8A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62375"/>
            <a:ext cx="3143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1"/>
          </a:solidFill>
          <a:ln xmlns:a="http://schemas.openxmlformats.org/drawingml/2006/main" w="9525">
            <a:solidFill>
              <a:srgbClr val="E85C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CE9D6C-5E4B-40BA-BB56-EDE83C36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95725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5C4A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E85C4A"/>
                </a:solidFill>
                <a:latin typeface="Georgia"/>
                <a:ea typeface="Georgia"/>
                <a:cs typeface="Georgia"/>
              </a:rPr>
              <a:t>What was missing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2981D7-20A5-4112-A707-13C898C9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274320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full packets even when nothing changed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silence could mean empty road or failure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no heartbeat meaning node alive / no traffic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no peak-hour low-traffic-message mode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246764-FB1E-47AB-8931-B783321C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62375"/>
            <a:ext cx="3143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E7A72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155CEC-3FA0-4A4B-AC5D-1277A5E0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95725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A72D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E7A72D"/>
                </a:solidFill>
                <a:latin typeface="Georgia"/>
                <a:ea typeface="Georgia"/>
                <a:cs typeface="Georgia"/>
              </a:rPr>
              <a:t>Why that mattered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CFEB76-CFE7-4F67-8D93-A56BC7BF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19575"/>
            <a:ext cx="274320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LoRa traffic wastes energy when repeated state is unchanged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stale detection can conflict with energy saving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backup mode may activate even when the road is simply empty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we need reliability and energy saving together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8270AB-FEFB-4384-A5FA-4FC0E81A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62375"/>
            <a:ext cx="3143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138A4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EBC292-C417-4181-95F0-F9D09406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981450"/>
            <a:ext cx="2619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8A43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38A43"/>
                </a:solidFill>
                <a:latin typeface="Georgia"/>
                <a:ea typeface="Georgia"/>
                <a:cs typeface="Georgia"/>
              </a:rPr>
              <a:t>Implemented transition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B1CBE5-CAC9-4A62-9CFD-A20E5D6C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8150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Active mode sends full telemetry. Idle or peak-saturated mode sends heartbeat only every long period. Node B keeps controlling the LEDs locally, while heartbeat proves Node A is alive.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780B62-9A0C-40E0-A0DC-299C8C32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1000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Speaker message: the improvement is not just fewer packets. It separates traffic telemetry from health heartbeat, so energy saving does not break failure detection.</a:t>
            </a:r>
          </a:p>
        </p:txBody>
      </p:sp>
    </p:spTree>
    <p:extLst>
      <p:ext uri="{BB962C8B-B14F-4D97-AF65-F5344CB8AC3E}">
        <p14:creationId xmlns:p14="http://schemas.microsoft.com/office/powerpoint/2010/main" val="102753606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9588ED-F5B7-45C1-B6CE-72776B89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AA9097-310B-43EC-B594-51064CFF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EEF2F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4234BB-AC15-4A21-94FF-A7829684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BC421-A499-4F79-BAFD-1402E7B2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8625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3E91D6-7304-4DAC-A3D9-0AE77030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FF975F-ED3A-474D-8394-8510561D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7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6F8C23-726D-42A3-BA35-F8D3A3EB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41DDC-0D99-41BB-ACCE-38250858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24625"/>
            <a:ext cx="419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Wait Less  |  Sapienza IoT - Final Delivery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8EE4B5-28ED-41F6-8825-0A8D19AB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524625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Software | communication after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33993F-ADD2-4A5E-80B2-1812AA92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195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Improved communication carries state and health.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829B79-2594-49F1-9B1B-46E9D321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Node B now separates full traffic telemetry from heartbeat packets, so low communication is not confused with failure.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EC503F-A483-41EC-909D-582A4B17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5048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138A4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60B84A-8F60-4A93-9C4E-272F5BB8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481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38A4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38A43"/>
                </a:solidFill>
                <a:latin typeface="Aptos"/>
                <a:ea typeface="Aptos"/>
                <a:cs typeface="Aptos"/>
              </a:rPr>
              <a:t>Final packet format sent by Node 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B894EC-3FF0-42E3-9F3D-B8E400B4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481965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side,farOcc,nearOcc,incoming,passed,queue,</a:t>
            </a:r>
          </a:p>
          <a:p xmlns:a="http://schemas.openxmlformats.org/drawingml/2006/main">
            <a:pPr algn="l">
              <a:defRPr sz="78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emergency,timestampMs,farDistanceCm,nearDistanceCm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8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Example:</a:t>
            </a:r>
          </a:p>
          <a:p xmlns:a="http://schemas.openxmlformats.org/drawingml/2006/main">
            <a:pPr algn="l">
              <a:defRPr sz="78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A,1,0,4,2,2,0,12345,42.0,999.0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9BD5F3-DFC3-4D44-A241-DC703DCE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447800"/>
            <a:ext cx="48101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138A4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1E8167-9158-45F3-95DC-30286E79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524000"/>
            <a:ext cx="458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38A4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38A43"/>
                </a:solidFill>
                <a:latin typeface="Aptos"/>
                <a:ea typeface="Aptos"/>
                <a:cs typeface="Aptos"/>
              </a:rPr>
              <a:t>NodeMessaging.cpp: encodeTelemetry()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7E8158-1D56-448A-B676-912428BE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733550"/>
            <a:ext cx="4581525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return String(sideName(telemetry.side)) + "," +</a:t>
            </a:r>
          </a:p>
          <a:p xmlns:a="http://schemas.openxmlformats.org/drawingml/2006/main">
            <a:pPr algn="l">
              <a:defRPr sz="7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String(telemetry.farOccupied ? 1 : 0) + "," +</a:t>
            </a:r>
          </a:p>
          <a:p xmlns:a="http://schemas.openxmlformats.org/drawingml/2006/main">
            <a:pPr algn="l">
              <a:defRPr sz="7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String(telemetry.nearOccupied ? 1 : 0) + "," +</a:t>
            </a:r>
          </a:p>
          <a:p xmlns:a="http://schemas.openxmlformats.org/drawingml/2006/main">
            <a:pPr algn="l">
              <a:defRPr sz="7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String(telemetry.incomingCount) + "," +</a:t>
            </a:r>
          </a:p>
          <a:p xmlns:a="http://schemas.openxmlformats.org/drawingml/2006/main">
            <a:pPr algn="l">
              <a:defRPr sz="7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String(telemetry.passedCount) + "," +</a:t>
            </a:r>
          </a:p>
          <a:p xmlns:a="http://schemas.openxmlformats.org/drawingml/2006/main">
            <a:pPr algn="l">
              <a:defRPr sz="7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String(telemetry.estimatedQueue) + "," +</a:t>
            </a:r>
          </a:p>
          <a:p xmlns:a="http://schemas.openxmlformats.org/drawingml/2006/main">
            <a:pPr algn="l">
              <a:defRPr sz="7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String(telemetry.emergencyRequested ? 1 : 0) + "," +</a:t>
            </a:r>
          </a:p>
          <a:p xmlns:a="http://schemas.openxmlformats.org/drawingml/2006/main">
            <a:pPr algn="l">
              <a:defRPr sz="7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String(telemetry.timestampMs) + "," +</a:t>
            </a:r>
          </a:p>
          <a:p xmlns:a="http://schemas.openxmlformats.org/drawingml/2006/main">
            <a:pPr algn="l">
              <a:defRPr sz="7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String(telemetry.farDistanceCm, 1) + "," +</a:t>
            </a:r>
          </a:p>
          <a:p xmlns:a="http://schemas.openxmlformats.org/drawingml/2006/main">
            <a:pPr algn="l">
              <a:defRPr sz="705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05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String(telemetry.nearDistanceCm, 1);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16B66E-29CE-4DC8-B3CA-558E26DD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5048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E7A72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75BE28-3267-4A21-B139-4083481F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481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7A72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7A72D"/>
                </a:solidFill>
                <a:latin typeface="Aptos"/>
                <a:ea typeface="Aptos"/>
                <a:cs typeface="Aptos"/>
              </a:rPr>
              <a:t>Node B: stale data becomes backup mode, not silent failure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39D948-DBD9-4C41-918B-57DAA70D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48196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2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lowCommunicationExpected =</a:t>
            </a:r>
          </a:p>
          <a:p xmlns:a="http://schemas.openxmlformats.org/drawingml/2006/main">
            <a:pPr algn="l">
              <a:defRPr sz="72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2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lastRemotePacketWasHeartbeat || !hasDemand(remoteTelemetry);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2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2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timeoutMs = lowCommunicationExpected</a:t>
            </a:r>
          </a:p>
          <a:p xmlns:a="http://schemas.openxmlformats.org/drawingml/2006/main">
            <a:pPr algn="l">
              <a:defRPr sz="72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2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? kRemoteHeartbeatTimeoutMs   // 25 s</a:t>
            </a:r>
          </a:p>
          <a:p xmlns:a="http://schemas.openxmlformats.org/drawingml/2006/main">
            <a:pPr algn="l">
              <a:defRPr sz="72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2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: kRemoteTelemetryTimeoutMs;  // 3 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2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2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if (lastRemoteRxMs == 0 || nowMs - lastRemoteRxMs &gt; timeoutMs) {</a:t>
            </a:r>
          </a:p>
          <a:p xmlns:a="http://schemas.openxmlformats.org/drawingml/2006/main">
            <a:pPr algn="l">
              <a:defRPr sz="72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2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setNodeABackupActive(true, "NODE_A_STALE");</a:t>
            </a:r>
          </a:p>
          <a:p xmlns:a="http://schemas.openxmlformats.org/drawingml/2006/main">
            <a:pPr algn="l">
              <a:defRPr sz="72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2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remoteTelemetryStale = true;</a:t>
            </a:r>
          </a:p>
          <a:p xmlns:a="http://schemas.openxmlformats.org/drawingml/2006/main">
            <a:pPr algn="l">
              <a:defRPr sz="72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2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474FC2-25AC-4ED4-AC47-4B631725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238500"/>
            <a:ext cx="48101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6B4E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3A8866-6B66-464B-B702-497357BA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314700"/>
            <a:ext cx="458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4E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4EFF"/>
                </a:solidFill>
                <a:latin typeface="Aptos"/>
                <a:ea typeface="Aptos"/>
                <a:cs typeface="Aptos"/>
              </a:rPr>
              <a:t>Implemented: telemetry vs heartbeat modes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714EC5-3382-4B6D-B267-2A84A4C2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524250"/>
            <a:ext cx="458152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69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if (currentTxMode == ActiveTelemetry) {</a:t>
            </a:r>
          </a:p>
          <a:p xmlns:a="http://schemas.openxmlformats.org/drawingml/2006/main">
            <a:pPr algn="l">
              <a:defRPr sz="69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69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sendFullTelemetryEvery(1000);</a:t>
            </a:r>
          </a:p>
          <a:p xmlns:a="http://schemas.openxmlformats.org/drawingml/2006/main">
            <a:pPr algn="l">
              <a:defRPr sz="69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69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} else if (currentTxMode == IdleHeartbeat) {</a:t>
            </a:r>
          </a:p>
          <a:p xmlns:a="http://schemas.openxmlformats.org/drawingml/2006/main">
            <a:pPr algn="l">
              <a:defRPr sz="69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69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sendTelemetryOnlyOnStateChange();</a:t>
            </a:r>
          </a:p>
          <a:p xmlns:a="http://schemas.openxmlformats.org/drawingml/2006/main">
            <a:pPr algn="l">
              <a:defRPr sz="69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69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sendHeartbeatEvery(10000);      // H,A,I,timestamp</a:t>
            </a:r>
          </a:p>
          <a:p xmlns:a="http://schemas.openxmlformats.org/drawingml/2006/main">
            <a:pPr algn="l">
              <a:defRPr sz="69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69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} else if (currentTxMode == PeakHeartbeat) {</a:t>
            </a:r>
          </a:p>
          <a:p xmlns:a="http://schemas.openxmlformats.org/drawingml/2006/main">
            <a:pPr algn="l">
              <a:defRPr sz="69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69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sendHeartbeatEvery(15000);      // H,A,P,timestamp</a:t>
            </a:r>
          </a:p>
          <a:p xmlns:a="http://schemas.openxmlformats.org/drawingml/2006/main">
            <a:pPr algn="l">
              <a:defRPr sz="69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69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} else {</a:t>
            </a:r>
          </a:p>
          <a:p xmlns:a="http://schemas.openxmlformats.org/drawingml/2006/main">
            <a:pPr algn="l">
              <a:defRPr sz="69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69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setNodeABackupActive(true);</a:t>
            </a:r>
          </a:p>
          <a:p xmlns:a="http://schemas.openxmlformats.org/drawingml/2006/main">
            <a:pPr algn="l">
              <a:defRPr sz="69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69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0AFBC9-0BF7-4C5D-9A1C-480AC35A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95875"/>
            <a:ext cx="4905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BF4"/>
          </a:solidFill>
          <a:ln xmlns:a="http://schemas.openxmlformats.org/drawingml/2006/main" w="9525">
            <a:solidFill>
              <a:srgbClr val="138A4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2D6CDE-DD88-4DD6-A9E9-C03165CA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29225"/>
            <a:ext cx="4562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8A43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38A43"/>
                </a:solidFill>
                <a:latin typeface="Georgia"/>
                <a:ea typeface="Georgia"/>
                <a:cs typeface="Georgia"/>
              </a:rPr>
              <a:t>Communication improvement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BAB94A-E3AE-4762-B31A-9D1B99D0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53075"/>
            <a:ext cx="45053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full telemetry still carries distances, queue, emergency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heartbeat packets keep liveness while reducing repeated LoRa traffic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573DC3-A08F-4711-BCB0-D4F992A9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095875"/>
            <a:ext cx="4810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E7A72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4B509C-6451-4C7A-91D2-0B08B840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86375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A72D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E7A72D"/>
                </a:solidFill>
                <a:latin typeface="Georgia"/>
                <a:ea typeface="Georgia"/>
                <a:cs typeface="Georgia"/>
              </a:rPr>
              <a:t>Important limitation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9AF9CF-12B6-4278-BF85-20CA7D8E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81650"/>
            <a:ext cx="419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Node A sleeps only in peak fixed-cycle mode, when Node B intentionally handles both sides locally. Normal adaptive mode keeps Node A awake to avoid missing vehicles.</a:t>
            </a:r>
          </a:p>
        </p:txBody>
      </p:sp>
    </p:spTree>
    <p:extLst>
      <p:ext uri="{BB962C8B-B14F-4D97-AF65-F5344CB8AC3E}">
        <p14:creationId xmlns:p14="http://schemas.microsoft.com/office/powerpoint/2010/main" val="82304089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9B9CBE-0BF5-4894-88BD-450EF328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250731-4987-40A7-BE3C-16356EF2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EEF2F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686E2E-E448-4350-9C96-39FBE20F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BFC91D-0508-43D2-A103-B668B85F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8625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59DB9-31A7-4B6B-B5B9-0386CB8E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C76A25-8C36-4381-9B3B-D76E50AF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7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D49D76-2526-45E3-B050-FA200E6B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9604A5-DDE4-48A7-8C03-48E8335C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24625"/>
            <a:ext cx="419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Wait Less  |  Sapienza IoT - Final Delivery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96A907-B707-4161-A178-B8B4187A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524625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Software | power and duty cycling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DEF516-7565-4216-80E6-B4EA4E14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195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Measured energy, then peak sleep.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D03A8F-93DB-4ECB-83A8-8491B909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INA219 gives the baseline; heartbeat and peak sleep reduce repeated work without hiding node failures.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5BED04-C885-439E-9F36-515CEF7F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6F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862BBB-D098-416E-88DB-495C09C0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6FEB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F6FEB"/>
                </a:solidFill>
                <a:latin typeface="Georgia"/>
                <a:ea typeface="Georgia"/>
                <a:cs typeface="Georgia"/>
              </a:rPr>
              <a:t>123.0 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010F84-4ACA-4400-842F-874B4A98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76425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Node A measured average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760904-C149-4F9B-BB6C-1E8C66F6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476375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38A4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5A3AB3-EF2B-4B82-9E31-12A0C8CC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56210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8A43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38A43"/>
                </a:solidFill>
                <a:latin typeface="Georgia"/>
                <a:ea typeface="Georgia"/>
                <a:cs typeface="Georgia"/>
              </a:rPr>
              <a:t>174.8 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0D1BA7-CD55-48D1-AE5A-9F921B20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876425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Node B measured average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A55C28-E551-4F88-A50D-5629A35A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76375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4E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A11FB4-9A70-4E7B-9D94-3B254118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6210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B4EFF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6B4EFF"/>
                </a:solidFill>
                <a:latin typeface="Georgia"/>
                <a:ea typeface="Georgia"/>
                <a:cs typeface="Georgia"/>
              </a:rPr>
              <a:t>297.9 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D993FC-C32A-47FD-9B32-1EE4E7B4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876425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combined baseline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40547C-5483-455A-8386-744AC2B8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76375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A72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37DAA6-DA5F-4ADA-B0EC-80551065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56210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A72D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E7A72D"/>
                </a:solidFill>
                <a:latin typeface="Georgia"/>
                <a:ea typeface="Georgia"/>
                <a:cs typeface="Georgia"/>
              </a:rPr>
              <a:t>INA219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B2F4F8-A9FC-4101-BDA4-2EB1E8F0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876425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measured, not guessed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4C752A-DC0F-4D84-98EB-4CB2D310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4095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6B4E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64351A-7517-4094-85BE-B6005A76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3867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4E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4EFF"/>
                </a:solidFill>
                <a:latin typeface="Aptos"/>
                <a:ea typeface="Aptos"/>
                <a:cs typeface="Aptos"/>
              </a:rPr>
              <a:t>Current firmware: optional INA219 evidence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15C0A1-E3F0-412B-9A2F-D7387F62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386715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7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lastPowerReading = ina219Read();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7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7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Serial.print(" | power=");</a:t>
            </a:r>
          </a:p>
          <a:p xmlns:a="http://schemas.openxmlformats.org/drawingml/2006/main">
            <a:pPr algn="l">
              <a:defRPr sz="77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7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if (lastPowerReading.ok) {</a:t>
            </a:r>
          </a:p>
          <a:p xmlns:a="http://schemas.openxmlformats.org/drawingml/2006/main">
            <a:pPr algn="l">
              <a:defRPr sz="77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7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Serial.print(lastPowerReading.currentMa, 1);</a:t>
            </a:r>
          </a:p>
          <a:p xmlns:a="http://schemas.openxmlformats.org/drawingml/2006/main">
            <a:pPr algn="l">
              <a:defRPr sz="77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7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Serial.print("mA/");</a:t>
            </a:r>
          </a:p>
          <a:p xmlns:a="http://schemas.openxmlformats.org/drawingml/2006/main">
            <a:pPr algn="l">
              <a:defRPr sz="77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7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Serial.print(lastPowerReading.powerMw, 1);</a:t>
            </a:r>
          </a:p>
          <a:p xmlns:a="http://schemas.openxmlformats.org/drawingml/2006/main">
            <a:pPr algn="l">
              <a:defRPr sz="77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7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Serial.println("mW");</a:t>
            </a:r>
          </a:p>
          <a:p xmlns:a="http://schemas.openxmlformats.org/drawingml/2006/main">
            <a:pPr algn="l">
              <a:defRPr sz="77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7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} else {</a:t>
            </a:r>
          </a:p>
          <a:p xmlns:a="http://schemas.openxmlformats.org/drawingml/2006/main">
            <a:pPr algn="l">
              <a:defRPr sz="77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7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Serial.println("INA219_NA");</a:t>
            </a:r>
          </a:p>
          <a:p xmlns:a="http://schemas.openxmlformats.org/drawingml/2006/main">
            <a:pPr algn="l">
              <a:defRPr sz="77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7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F28BA3-BAE1-465B-9D2A-3F9CACD1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76500"/>
            <a:ext cx="56673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138A4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211CEB-ED64-42BC-AFBF-16A67C23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552700"/>
            <a:ext cx="54387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38A4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38A43"/>
                </a:solidFill>
                <a:latin typeface="Aptos"/>
                <a:ea typeface="Aptos"/>
                <a:cs typeface="Aptos"/>
              </a:rPr>
              <a:t>Implemented improvement: communication + peak sleep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858A71-DC83-4026-9123-A7639DAD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762250"/>
            <a:ext cx="5438775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57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if (peakSleepEnabled &amp;&amp; peakTrafficModeActive()) {</a:t>
            </a:r>
          </a:p>
          <a:p xmlns:a="http://schemas.openxmlformats.org/drawingml/2006/main">
            <a:pPr algn="l">
              <a:defRPr sz="757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57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sendHeartbeatOverLoRa(PeakHeartbeat, nowMs);</a:t>
            </a:r>
          </a:p>
          <a:p xmlns:a="http://schemas.openxmlformats.org/drawingml/2006/main">
            <a:pPr algn="l">
              <a:defRPr sz="757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57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esp_sleep_enable_timer_wakeup(kPeakSleepMs * 1000ULL);</a:t>
            </a:r>
          </a:p>
          <a:p xmlns:a="http://schemas.openxmlformats.org/drawingml/2006/main">
            <a:pPr algn="l">
              <a:defRPr sz="757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57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esp_deep_sleep_start();</a:t>
            </a:r>
          </a:p>
          <a:p xmlns:a="http://schemas.openxmlformats.org/drawingml/2006/main">
            <a:pPr algn="l">
              <a:defRPr sz="757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57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} else if (currentTxMode == IdleHeartbeat) {</a:t>
            </a:r>
          </a:p>
          <a:p xmlns:a="http://schemas.openxmlformats.org/drawingml/2006/main">
            <a:pPr algn="l">
              <a:defRPr sz="757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57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sendHeartbeatEvery(10000);   // low LoRa traffic</a:t>
            </a:r>
          </a:p>
          <a:p xmlns:a="http://schemas.openxmlformats.org/drawingml/2006/main">
            <a:pPr algn="l">
              <a:defRPr sz="757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57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} else {</a:t>
            </a:r>
          </a:p>
          <a:p xmlns:a="http://schemas.openxmlformats.org/drawingml/2006/main">
            <a:pPr algn="l">
              <a:defRPr sz="757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57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sendFullTelemetryEvery(1000); // adaptive mode</a:t>
            </a:r>
          </a:p>
          <a:p xmlns:a="http://schemas.openxmlformats.org/drawingml/2006/main">
            <a:pPr algn="l">
              <a:defRPr sz="757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57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F82068-967C-494F-8079-08979FF0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0"/>
            <a:ext cx="3143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1"/>
          </a:solidFill>
          <a:ln xmlns:a="http://schemas.openxmlformats.org/drawingml/2006/main" w="9525">
            <a:solidFill>
              <a:srgbClr val="E85C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F03707-F5EE-467C-B997-98F16711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5C4A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E85C4A"/>
                </a:solidFill>
                <a:latin typeface="Georgia"/>
                <a:ea typeface="Georgia"/>
                <a:cs typeface="Georgia"/>
              </a:rPr>
              <a:t>Before improvement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D74551-1E8E-4AA0-8C0C-2DA881CD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2743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fixed telemetry interval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continuous sensing and logging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Node B radio receive and LED load always active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baseline measured with INA219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5629A8-BA38-4114-85AD-B964C538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286250"/>
            <a:ext cx="3143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BF4"/>
          </a:solidFill>
          <a:ln xmlns:a="http://schemas.openxmlformats.org/drawingml/2006/main" w="9525">
            <a:solidFill>
              <a:srgbClr val="138A4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A7F1B1-7ADB-49B5-8AA0-54E2B849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419600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8A43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38A43"/>
                </a:solidFill>
                <a:latin typeface="Georgia"/>
                <a:ea typeface="Georgia"/>
                <a:cs typeface="Georgia"/>
              </a:rPr>
              <a:t>After implemented improvement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16388D-4233-4753-B5AD-98885D55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743450"/>
            <a:ext cx="2743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full telemetry only when useful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heartbeat proves node is alive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peak sleep wakes only for heartbeat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Node B uses longer heartbeat timeout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D91121-2D38-44A3-BF10-7BF668D3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86250"/>
            <a:ext cx="3238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E7A72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8EDBE2-DB49-473A-8570-BD07C8A4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767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A72D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E7A72D"/>
                </a:solidFill>
                <a:latin typeface="Georgia"/>
                <a:ea typeface="Georgia"/>
                <a:cs typeface="Georgia"/>
              </a:rPr>
              <a:t>Peak sleep condition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2994A3-8039-4820-9EA3-70D7C62F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810125"/>
            <a:ext cx="2667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Only use peak_sleep_on when Node B is intentionally running balanced fixed-cycle control. Normal adaptive mode keeps Node A awake for real-time sensing.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44101A-1701-4B12-9191-E94F524C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1009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Speaker message: the INA219 values are measured baseline values. Peak sleep is implemented; the exact current reduction still needs a second INA219 measurement.</a:t>
            </a:r>
          </a:p>
        </p:txBody>
      </p:sp>
    </p:spTree>
    <p:extLst>
      <p:ext uri="{BB962C8B-B14F-4D97-AF65-F5344CB8AC3E}">
        <p14:creationId xmlns:p14="http://schemas.microsoft.com/office/powerpoint/2010/main" val="1692777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021D3D-4C66-48B6-8CA4-201E16AA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005A24-5CE8-44DE-B5A4-0A9E0D36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EEF2F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B67290-33DE-40D0-A0EC-FBDC18D1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3F6443-90D2-49AC-AAC5-8B320A9B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8625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E03C7E-4F4B-41E5-AADD-318DC370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8E0C33-3BAA-4638-B4F4-E77DF280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7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39A024-38B9-4CBF-9277-B2C8B9DF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40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B0E212-4117-427E-8A86-2E2446DF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24625"/>
            <a:ext cx="419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Wait Less  |  Sapienza IoT - Final Delivery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3EF7CA-6A95-4A8A-A406-4C06DF23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524625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Software | simulators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47BFAA-98B3-4296-A33D-8232A842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195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The simulator became a real-data replay tool.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E3816A-D714-4D00-80B2-25D9C381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We kept random/manual modes for testing, but the important final mode is CSV replay from the road run.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36A872-0BDE-4AE0-B5B2-96B8BED2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47625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a6863304bf4695"/>
          <a:stretch xmlns:a="http://schemas.openxmlformats.org/drawingml/2006/main"/>
        </p:blipFill>
        <p:spPr>
          <a:xfrm xmlns:a="http://schemas.openxmlformats.org/drawingml/2006/main">
            <a:off x="675217" y="1581150"/>
            <a:ext cx="4555067" cy="256222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DC15F6-81D1-4112-A35B-3A991EA5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504950"/>
            <a:ext cx="2428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AF8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75CA72-8FC3-4BBE-86EE-B0818CCA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638300"/>
            <a:ext cx="2085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A9D8F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2A9D8F"/>
                </a:solidFill>
                <a:latin typeface="Georgia"/>
                <a:ea typeface="Georgia"/>
                <a:cs typeface="Georgia"/>
              </a:rPr>
              <a:t>Simulator modes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6CFE9B-CE81-448C-B7A9-DD4BC431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962150"/>
            <a:ext cx="20288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CSV replay from road data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direct queue input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manual rates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random traffic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fixed scenarios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639EBB-6DE3-436E-9601-BD7DA1D8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04950"/>
            <a:ext cx="2428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BF4"/>
          </a:solidFill>
          <a:ln xmlns:a="http://schemas.openxmlformats.org/drawingml/2006/main" w="9525">
            <a:solidFill>
              <a:srgbClr val="138A4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C5C933-4491-43D9-852B-7DEF0639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638300"/>
            <a:ext cx="2085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8A43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38A43"/>
                </a:solidFill>
                <a:latin typeface="Georgia"/>
                <a:ea typeface="Georgia"/>
                <a:cs typeface="Georgia"/>
              </a:rPr>
              <a:t>Why CSV replay matters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891536-5C2B-48B5-A00A-42B207AB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962150"/>
            <a:ext cx="20288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uses real sensor demand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shows queues visually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compares adaptive vs fixed-time idea</a:t>
            </a:r>
          </a:p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connects IoT evidence to digital twin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91DE46-C3CB-4800-8B57-FAE5E59C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095625"/>
            <a:ext cx="509587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0E018E-ACAE-4F2C-BABD-CC053745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171825"/>
            <a:ext cx="4867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simulation/visual_simulator.py: road CSV becomes replay frames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81FEDA-1008-4FF6-B8DA-A12A071A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381375"/>
            <a:ext cx="48672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frames = load_road_frames(path)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self.csv_status_var.set(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"CSV replay loaded: " + csv_status_line(frames, path)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// CSV fields used: A/B queues, distances, phase, green side,</a:t>
            </a:r>
          </a:p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// source=LORA_RADIO or LORA_STALE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C6908B-D060-4083-9A98-381E052A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9625"/>
            <a:ext cx="1019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E7A72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35D783-74D9-4667-87CF-541D7CD6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012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A72D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E7A72D"/>
                </a:solidFill>
                <a:latin typeface="Georgia"/>
                <a:ea typeface="Georgia"/>
                <a:cs typeface="Georgia"/>
              </a:rPr>
              <a:t>How to say this honestly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FC9B8B-839D-45F0-8A91-D60A2188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91125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The simulator does not replace field evidence. It replays the measured demand from the road CSV so we can visualize and compare the controller behavior against a fixed-time baseline. That is the digital twin connection.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35B329-3234-4801-BEA6-BD7C222C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1009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575"/>
                </a:solidFill>
                <a:latin typeface="Aptos"/>
                <a:ea typeface="Aptos"/>
                <a:cs typeface="Aptos"/>
              </a:rPr>
              <a:t>End of software story: sensors -&gt; firmware -&gt; LoRa -&gt; controller -&gt; log -&gt; CSV -&gt; evaluation -&gt; replay.</a:t>
            </a:r>
          </a:p>
        </p:txBody>
      </p:sp>
    </p:spTree>
    <p:extLst>
      <p:ext uri="{BB962C8B-B14F-4D97-AF65-F5344CB8AC3E}">
        <p14:creationId xmlns:p14="http://schemas.microsoft.com/office/powerpoint/2010/main" val="18292952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2026-05-26T14:57:04.6720000Z</dcterms:created>
  <dcterms:modified xsi:type="dcterms:W3CDTF">2026-05-26T14:57:04.6720000Z</dcterms:modified>
</coreProperties>
</file>