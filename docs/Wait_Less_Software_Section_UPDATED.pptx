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a1b0e3c4c64eca" /><Relationship Type="http://schemas.openxmlformats.org/officeDocument/2006/relationships/extended-properties" Target="/docProps/app.xml" Id="Rf0b5dc2f68314427" /><Relationship Type="http://schemas.openxmlformats.org/officeDocument/2006/relationships/officeDocument" Target="/ppt/presentation.xml" Id="Rcb22e618b3804b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fc4ba4e6864ec3"/>
  </p:sldMasterIdLst>
  <p:notesMasterIdLst>
    <p:notesMasterId xmlns:r="http://schemas.openxmlformats.org/officeDocument/2006/relationships" r:id="R6493f1b1c8b840de"/>
  </p:notesMasterIdLst>
  <p:sldIdLst>
    <p:sldId xmlns:r="http://schemas.openxmlformats.org/officeDocument/2006/relationships" id="256" r:id="Rdee74421419b44c5"/>
    <p:sldId xmlns:r="http://schemas.openxmlformats.org/officeDocument/2006/relationships" id="257" r:id="Rfca1ed41f162401d"/>
    <p:sldId xmlns:r="http://schemas.openxmlformats.org/officeDocument/2006/relationships" id="258" r:id="R83c9f318ad7940ee"/>
    <p:sldId xmlns:r="http://schemas.openxmlformats.org/officeDocument/2006/relationships" id="259" r:id="R0338eef619c64198"/>
    <p:sldId xmlns:r="http://schemas.openxmlformats.org/officeDocument/2006/relationships" id="260" r:id="R13f110c06bbf4557"/>
    <p:sldId xmlns:r="http://schemas.openxmlformats.org/officeDocument/2006/relationships" id="261" r:id="R35605dcbd9b04769"/>
    <p:sldId xmlns:r="http://schemas.openxmlformats.org/officeDocument/2006/relationships" id="262" r:id="R0876fe5ec7a24882"/>
    <p:sldId xmlns:r="http://schemas.openxmlformats.org/officeDocument/2006/relationships" id="263" r:id="R2710c14bd8de4f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c4ba4e6864ec3" /><Relationship Type="http://schemas.openxmlformats.org/officeDocument/2006/relationships/theme" Target="/ppt/theme/theme1.xml" Id="R183e6f6ef0a44d18" /><Relationship Type="http://schemas.openxmlformats.org/officeDocument/2006/relationships/notesMaster" Target="/ppt/notesMasters/notesMaster1.xml" Id="R6493f1b1c8b840de" /><Relationship Type="http://schemas.openxmlformats.org/officeDocument/2006/relationships/presProps" Target="/ppt/presProps.xml" Id="R7ea8d5e8f5c44e97" /><Relationship Type="http://schemas.openxmlformats.org/officeDocument/2006/relationships/viewProps" Target="/ppt/viewProps.xml" Id="Refbcb91cfd1f47f9" /><Relationship Type="http://schemas.openxmlformats.org/officeDocument/2006/relationships/tableStyles" Target="/ppt/tableStyles.xml" Id="Rad7bd5b3d8994927" /><Relationship Type="http://schemas.openxmlformats.org/officeDocument/2006/relationships/slide" Target="/ppt/slides/slide1.xml" Id="Rdee74421419b44c5" /><Relationship Type="http://schemas.openxmlformats.org/officeDocument/2006/relationships/slide" Target="/ppt/slides/slide2.xml" Id="Rfca1ed41f162401d" /><Relationship Type="http://schemas.openxmlformats.org/officeDocument/2006/relationships/slide" Target="/ppt/slides/slide3.xml" Id="R83c9f318ad7940ee" /><Relationship Type="http://schemas.openxmlformats.org/officeDocument/2006/relationships/slide" Target="/ppt/slides/slide4.xml" Id="R0338eef619c64198" /><Relationship Type="http://schemas.openxmlformats.org/officeDocument/2006/relationships/slide" Target="/ppt/slides/slide5.xml" Id="R13f110c06bbf4557" /><Relationship Type="http://schemas.openxmlformats.org/officeDocument/2006/relationships/slide" Target="/ppt/slides/slide6.xml" Id="R35605dcbd9b04769" /><Relationship Type="http://schemas.openxmlformats.org/officeDocument/2006/relationships/slide" Target="/ppt/slides/slide7.xml" Id="R0876fe5ec7a24882" /><Relationship Type="http://schemas.openxmlformats.org/officeDocument/2006/relationships/slide" Target="/ppt/slides/slide8.xml" Id="R2710c14bd8de4f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55c68bd0c064d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b996b63a7b4f8a" /><Relationship Type="http://schemas.openxmlformats.org/officeDocument/2006/relationships/notesMaster" Target="/ppt/notesMasters/notesMaster1.xml" Id="R1c8249f7b9e845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cf03a652494dc0" /><Relationship Type="http://schemas.openxmlformats.org/officeDocument/2006/relationships/notesMaster" Target="/ppt/notesMasters/notesMaster1.xml" Id="R3ca2dbfba2af4c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b2a5790a764b9b" /><Relationship Type="http://schemas.openxmlformats.org/officeDocument/2006/relationships/notesMaster" Target="/ppt/notesMasters/notesMaster1.xml" Id="R903750dfbe5a46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aea1df475d4440" /><Relationship Type="http://schemas.openxmlformats.org/officeDocument/2006/relationships/notesMaster" Target="/ppt/notesMasters/notesMaster1.xml" Id="R409bf13e85fd4d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be1ae181ac4da7" /><Relationship Type="http://schemas.openxmlformats.org/officeDocument/2006/relationships/notesMaster" Target="/ppt/notesMasters/notesMaster1.xml" Id="Rb7b71c2693464b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f0145cee3541e3" /><Relationship Type="http://schemas.openxmlformats.org/officeDocument/2006/relationships/notesMaster" Target="/ppt/notesMasters/notesMaster1.xml" Id="R9e04eab3c2374d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03be5054174607" /><Relationship Type="http://schemas.openxmlformats.org/officeDocument/2006/relationships/notesMaster" Target="/ppt/notesMasters/notesMaster1.xml" Id="R22ef0e379bd14c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d294da3d0041fd" /><Relationship Type="http://schemas.openxmlformats.org/officeDocument/2006/relationships/notesMaster" Target="/ppt/notesMasters/notesMaster1.xml" Id="Rc37066cc604b4c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64956d5bd441e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f1cda76fa4c4972" /><Relationship Type="http://schemas.openxmlformats.org/officeDocument/2006/relationships/slideLayout" Target="/ppt/slideLayouts/slideLayout2.xml" Id="R820075f9886a48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0075f9886a48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29221ece8340fe" /><Relationship Type="http://schemas.openxmlformats.org/officeDocument/2006/relationships/notesSlide" Target="/ppt/notesSlides/notesSlide1.xml" Id="Rf7c62785fa604c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713f02e9a24933" /><Relationship Type="http://schemas.openxmlformats.org/officeDocument/2006/relationships/notesSlide" Target="/ppt/notesSlides/notesSlide2.xml" Id="R0aa97e30196f44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ba1ba7bc2147b0" /><Relationship Type="http://schemas.openxmlformats.org/officeDocument/2006/relationships/notesSlide" Target="/ppt/notesSlides/notesSlide3.xml" Id="Re645fee347b641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f11d3f4943465f" /><Relationship Type="http://schemas.openxmlformats.org/officeDocument/2006/relationships/notesSlide" Target="/ppt/notesSlides/notesSlide4.xml" Id="R6072df476acd45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115b30dee140c3" /><Relationship Type="http://schemas.openxmlformats.org/officeDocument/2006/relationships/notesSlide" Target="/ppt/notesSlides/notesSlide5.xml" Id="R823eecaae6bd4a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9fc0edd47245f4" /><Relationship Type="http://schemas.openxmlformats.org/officeDocument/2006/relationships/notesSlide" Target="/ppt/notesSlides/notesSlide6.xml" Id="Rbff70af867fa4f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544fb0fe544d6f" /><Relationship Type="http://schemas.openxmlformats.org/officeDocument/2006/relationships/notesSlide" Target="/ppt/notesSlides/notesSlide7.xml" Id="R7865e95dd01749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7f10a453c048d7" /><Relationship Type="http://schemas.openxmlformats.org/officeDocument/2006/relationships/image" Target="/ppt/media/image.png" Id="R28ae310a582d4de5" /><Relationship Type="http://schemas.openxmlformats.org/officeDocument/2006/relationships/notesSlide" Target="/ppt/notesSlides/notesSlide8.xml" Id="Rd977bec5c7544b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429685-85E5-43FC-B239-B3A1499E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422BC-17D9-4336-8476-4869097E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5D471-EC2E-4E4C-B4D6-F508200B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F8879-5E9E-4BEC-AEA4-99217637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{ 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52606-014C-4525-8C10-DD2945AE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AB5CC-5657-4339-AE61-2F33E3BF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375FA-D373-4C48-A0A6-29979266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0753B-AA8C-4E13-899F-F1838A34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56F71-1CF1-4CE6-9E5B-57EADBDF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general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1D54B-AAAA-4AED-9F4C-5CF31062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Software is a pipeline from sensing to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CDA89-F8E6-4FCB-B56B-B0B265DA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The code is not only a simulator: firmware, shared logic, logging tools, and replay all use the same data 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9EB27-B8D4-4CC2-80EF-A3309AD6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45237-A5C7-49AA-AC01-300B0882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Sensors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40B4F-2012-4FE9-8EDD-FEC78213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050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4 ultrasonic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far + near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B14F96-1455-487A-9506-8926182E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288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B657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64D62-6AD1-4B54-94FE-B1A816E5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62125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71759-B4C9-4BC8-8BC7-77BBC5D5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573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Firmware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0110C-DE5C-47D3-8ABE-27D2ACE9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050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Node A + Node B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 LoRa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8D648-C9AD-484B-9C76-23D349DF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288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B657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8FD6D-4418-4C05-A5C7-5A1F0A88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762125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AA184B-E117-4C64-BA91-DFB237ED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573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7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A72D"/>
                </a:solidFill>
                <a:latin typeface="Aptos"/>
                <a:ea typeface="Aptos"/>
                <a:cs typeface="Aptos"/>
              </a:rPr>
              <a:t>Shared logic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4C7FF1-0BBD-4A31-BADD-55474EF8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050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sensing, queue,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controller, packets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24DE3C-45DF-4579-9478-A22C0CA9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288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B657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926C8B-A3FC-436B-AAC8-202043CB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62125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EB3B84-3348-49AC-B4D1-F8771D09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573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Logger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01CB89-3916-4691-8C53-04CBDFA2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050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serial B STATUS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saved CSV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15318E-7A9B-4F8B-9CED-7F452B9E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288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B657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DE7C48-B683-42E4-AA92-19FF872B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62125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5C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C74AC8-5FFD-4A32-8653-6ABBB59D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573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C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C4A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4CE0CD-07BF-4DA9-9FD4-28687F76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050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TP/TN/FP/FN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stale + energy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15E207-3B66-4A1B-8D2D-4804BFAC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288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B657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C2832C-4082-40A6-8200-0D164167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62125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E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1AC9ED-3E69-4512-8837-05DD60D5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573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4E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4EFF"/>
                </a:solidFill>
                <a:latin typeface="Aptos"/>
                <a:ea typeface="Aptos"/>
                <a:cs typeface="Aptos"/>
              </a:rPr>
              <a:t>Simulator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E9EBCD-0189-4F1E-BE6D-3EF5C05C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50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CSV replay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digital twin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6AA668-6850-4846-BF28-2CA66208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5048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19D53A-DE2F-4FEA-8955-4E862D4E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Repository structure used in the software slides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FCFF64-29D3-4F16-B34C-BA4D2721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48196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firmware/node_a/main.cpp       // Side A sensing + LoRa TX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firmware/node_b/main.cpp       // Side B sensing + control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lib/traffic_control/           // shared logic used by both nodes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tools/road_data_logger.py      // live serial -&gt; CSV evidence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tools/final_evidence_report.py // metrics and report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simulation/visual_simulator.py // CSV replay / digital twin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B1F717-589F-458C-8BA7-54BC5150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EE41DE-BA4B-4029-A6F9-A596E01E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99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9D8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2A9D8F"/>
                </a:solidFill>
                <a:latin typeface="Georgia"/>
                <a:ea typeface="Georgia"/>
                <a:cs typeface="Georgia"/>
              </a:rPr>
              <a:t>What this proves to the professor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92CC4E-4384-49A1-809C-9E24042A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0000"/>
            <a:ext cx="4381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Real sensor readings are converted into queue states.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Node A and Node B communicate through LoRa packets.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Node B makes the final light decision locally.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The same live log becomes CSV, metrics, graphs, and simulator replay.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Improvements are visible in code: filtering, stale handling, emergency, energy logging.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F84DC8-92BD-4AC7-B048-806D5864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Speaker message: each later slide zooms into one layer of this pipeline, then shows how we improved it after testing.</a:t>
            </a:r>
          </a:p>
        </p:txBody>
      </p:sp>
    </p:spTree>
    <p:extLst>
      <p:ext uri="{BB962C8B-B14F-4D97-AF65-F5344CB8AC3E}">
        <p14:creationId xmlns:p14="http://schemas.microsoft.com/office/powerpoint/2010/main" val="6972754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4C9C14-785D-468F-985B-E5D262F8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B2A88-E04F-4A96-A752-0AF083EF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672D1-AFC1-4560-8F3D-0BD494AA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30F15-3E5F-4213-BDB6-12BC123E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A/B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CBDA6-8CA8-425A-8621-8D18EFDA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5F0D5-0ED3-476B-9197-B7787D75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2E4EA-06B2-43C5-81AC-64B44B0A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CB37D-AA1A-48FC-9CE5-66944E53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C8CF9-5139-4A76-99A1-A3D10F8A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node firmware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E33EB-16D7-45D2-826B-E34E2741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Node A senses; Node B decides and controls.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86827-A65C-4730-9B97-02B06310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The two ESP32 programs have different roles, but they share the same telemetry and sensing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E889C-09FF-41FE-8517-4F84F362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524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BB876-5E44-43B5-92CC-C6525B7C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2181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E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F6FEB"/>
                </a:solidFill>
                <a:latin typeface="Georgia"/>
                <a:ea typeface="Georgia"/>
                <a:cs typeface="Georgia"/>
              </a:rPr>
              <a:t>Node A responsibilities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5F990-BBF0-432A-B390-11F6FF88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1240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read A_far and A_near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filter + debounce occupancy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estimate Side A queue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encode LoRa telemetry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print human-readable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D7CFA-B21D-44A4-B66B-98DA665C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2524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42426-1821-40A0-81B9-3CAB8107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2181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Node B responsibilities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C00363-5AC9-4832-964F-77A2D4CB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21240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read B_far and B_near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receive Node A telemetry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detect stale LoRa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run adaptive controller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drive all six LEDs and log CSV 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E63C5-31FE-4BCC-91D3-003546F3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2400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CB8B31-AD3E-4CA5-817D-0661FFFE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600200"/>
            <a:ext cx="3295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Node A: sensor state becomes LoRa payload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A584B-6DF2-498E-BD9E-FD8295F3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809750"/>
            <a:ext cx="3295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SideTelemetry telemetry =</a:t>
            </a:r>
          </a:p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laneEstimator.update(SideId::A,</a:t>
            </a:r>
          </a:p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farOccupied, nearOccupied, nowMs);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telemetry.farDistanceCm = farDistance;</a:t>
            </a:r>
          </a:p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telemetry.nearDistanceCm = nearDistance;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String payload = encodeTelemetry(telemetry);</a:t>
            </a:r>
          </a:p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sendTelemetryOverLoRa(payload);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FA6B6-BCD3-488F-84CD-B764848B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29000"/>
            <a:ext cx="3524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89E29-5B4E-4C88-BD73-BA51CC18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05200"/>
            <a:ext cx="3295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Node B: combine A + B, then apply lights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33EC39-E735-4802-844A-0DF6A729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714750"/>
            <a:ext cx="32956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(loRaTryReceive(packet, Serial)) {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parseTelemetryLine(packet.payload, received);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lastRemoteRxMs = nowMs;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SideTelemetry remote = effectiveRemoteTelemetry(nowMs);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TrafficDecision decision =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controller.update(remote, localTelemetry, nowMs);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applyLights(decision.lights);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A40DE5-4FFB-476F-86BB-D6A35033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383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F82C6-794F-49F5-9AA8-0D2D48DF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7240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6FEB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F6FEB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516BF8-1FAE-46E7-AD12-56D2108D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0383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physical ultrasonic readings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1D0B7C-C77C-4D06-BCCF-9407F121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383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B816F3-CFF3-4BCF-9F30-2132660D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240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ADCEC3-6863-4930-AC4D-6F7E3644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383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LoRa direction: A to 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8D921F-4C2E-480E-8498-3F930082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908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5C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EE9389-BE17-49CA-AE0F-686F16BE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765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5C4A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E85C4A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B07753-F3E8-45F5-8E3C-0CB7376D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990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LED outputs on Node 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288528-07A0-4A72-8F62-D0F11713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A46545-D41D-47E9-B7D3-F4689288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765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50 cm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EC56D2-056D-4272-BB80-545D8D57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90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live demo threshold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0AD92E-B157-4E86-83E3-FCF225C7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62375"/>
            <a:ext cx="33051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DA24DC-AB1B-45F4-A157-BCF73BB8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838575"/>
            <a:ext cx="3076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Live demo line proves all roles are active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05B22B-817A-44AD-AEBA-76007373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48125"/>
            <a:ext cx="3076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B STATUS | A_queue=... | B_queue=...</a:t>
            </a:r>
          </a:p>
          <a:p xmlns:a="http://schemas.openxmlformats.org/drawingml/2006/main">
            <a:pPr algn="l">
              <a:defRPr sz="7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| A_far=...cm/OCC | B_far=...cm/FREE</a:t>
            </a:r>
          </a:p>
          <a:p xmlns:a="http://schemas.openxmlformats.org/drawingml/2006/main">
            <a:pPr algn="l">
              <a:defRPr sz="7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| source=LORA_RADIO | stale=OFF</a:t>
            </a:r>
          </a:p>
          <a:p xmlns:a="http://schemas.openxmlformats.org/drawingml/2006/main">
            <a:pPr algn="l">
              <a:defRPr sz="7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| backup=OFF | green=A | lights=A:GREEN B:RED</a:t>
            </a:r>
          </a:p>
        </p:txBody>
      </p:sp>
    </p:spTree>
    <p:extLst>
      <p:ext uri="{BB962C8B-B14F-4D97-AF65-F5344CB8AC3E}">
        <p14:creationId xmlns:p14="http://schemas.microsoft.com/office/powerpoint/2010/main" val="14483739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4731FC-1D20-4E31-8AC9-A98AA9D2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F305D-A8B4-4D5C-9B18-6652E3E5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A4AEC-8B03-405D-9FF1-284148FA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A4E77-571B-4A60-B24B-7BC38CA5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D6F23-D740-4D55-9F14-19825361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5EB48-81B1-4458-AEF0-1BE99E85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BF409-C879-4B7A-8E6A-FCC932E4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100B7-1980-44CE-8FDE-0DFABFBB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13F36-7BA4-489D-8B65-8C369EAA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shared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20354-6688-4D71-AA93-31A58573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Shared code keeps the two nodes consistent.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04175-1F20-442D-9832-E64D8318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The project avoids two separate implementations by putting sensing, packet, queue, and controller logic in reusable modules.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C395A-2497-46CF-ADFC-DDCD97AC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50123-AA52-41B5-B9DD-D0C37DCB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HardwareMap.h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6E8EB-75F2-47BF-AEDD-1437377E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pin source of truth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A/B sensors, LEDs, button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BD460-0CA9-4315-B8D7-1DEF15AE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4000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90D75-A630-40B3-A010-0AB0DBD5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SensorSupport.cpp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080D4-0D6D-43B1-8331-BBE01A2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6690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HC-SR04 distance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median3 + debounce2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FBF7F-9F5C-403F-9E56-CD492FCE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591D44-391C-4A9D-A49A-1DE12062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1925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7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A72D"/>
                </a:solidFill>
                <a:latin typeface="Aptos"/>
                <a:ea typeface="Aptos"/>
                <a:cs typeface="Aptos"/>
              </a:rPr>
              <a:t>TrafficSensing.cpp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C63CED-7A72-4A2F-9635-A2A344B6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6690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incoming/passed counters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queue estimate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6289C-EB3A-435F-9146-D1F6919C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A878EF-CB8E-46E2-B10E-46793F13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NodeMessaging.cpp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A73BB3-0C72-4F12-8864-D9691738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LoRa CSV payload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backward-compatible decode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4E1EF6-A94F-4E2E-9551-403F78EC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47950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5C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E1638C-FB7A-4868-AA81-6F57020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4320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C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C4A"/>
                </a:solidFill>
                <a:latin typeface="Aptos"/>
                <a:ea typeface="Aptos"/>
                <a:cs typeface="Aptos"/>
              </a:rPr>
              <a:t>AdaptiveController.cpp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688250-152B-4B55-A0A9-BF6FE7E5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9085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demand score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min green + yellow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9AF42E-3F6E-422C-BD63-AD022734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E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901A0F-EF4D-4ACD-A2F4-A5EABE18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4320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4E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4EFF"/>
                </a:solidFill>
                <a:latin typeface="Aptos"/>
                <a:ea typeface="Aptos"/>
                <a:cs typeface="Aptos"/>
              </a:rPr>
              <a:t>Ina219Support.cpp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984D7A-0B58-4A41-93A5-C471FFD0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9085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optional current/power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INA219_NA if absent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385069-8B5D-4571-B95B-3E166DB3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381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8582C4-69F3-4F03-A00A-527711A5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Reliability layer after real-road testing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40E5F6-9F91-42D1-A2ED-7609210B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Median filtering rejects one-sample ultrasonic spikes.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Debounce requires repeated agreement before occupancy changes.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Sensor health shows WARN/FAIL instead of hiding bad wiring or angle issues.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C4FBE0-FE6D-4E3A-AA9E-57918BB1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853E41-FA73-43CF-94CF-77E97545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91000"/>
            <a:ext cx="567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SensorSupport.cpp: final occupancy is filtered, thresholded, then debounced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0B2DF8-90F6-489D-82C2-3105CD1D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00550"/>
            <a:ext cx="56769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reading.distanceCm = readMedianUltrasonicDistanceCm(trigPin, echoPin,</a:t>
            </a:r>
          </a:p>
          <a:p xmlns:a="http://schemas.openxmlformats.org/drawingml/2006/main">
            <a:pPr algn="l">
              <a:defRPr sz="7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medianSampleCount, timeoutUs);</a:t>
            </a:r>
          </a:p>
          <a:p xmlns:a="http://schemas.openxmlformats.org/drawingml/2006/main">
            <a:pPr algn="l">
              <a:defRPr sz="7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reading.rawOccupied = isDistanceOccupied(reading.distanceCm, thresholdCm);</a:t>
            </a:r>
          </a:p>
          <a:p xmlns:a="http://schemas.openxmlformats.org/drawingml/2006/main">
            <a:pPr algn="l">
              <a:defRPr sz="7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reading.stableOccupied = debouncer.update(reading.rawOccupied, debounceSamples);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farHealth.update(farDistance);  // status: OK / WARN / FAIL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461125-80EF-4348-A711-ABE0AC3C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Speaker message: this slide shows that the software is engineered in layers, so every improvement is implemented once and reused by both boards.</a:t>
            </a:r>
          </a:p>
        </p:txBody>
      </p:sp>
    </p:spTree>
    <p:extLst>
      <p:ext uri="{BB962C8B-B14F-4D97-AF65-F5344CB8AC3E}">
        <p14:creationId xmlns:p14="http://schemas.microsoft.com/office/powerpoint/2010/main" val="20680455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00E9E3-4B1E-4C1C-AB97-77BD13F1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5A8A1-74F2-44E8-9535-7E1B62AB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5AE83-60CB-46C9-BE5E-9695B898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C418B-7A82-493C-82CF-3954C79A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4C426-E1E8-4B2C-A9D9-E488BEDD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7A31F-112E-424B-8975-4FF9582D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095D5-D1E6-41E7-91EF-CF087D1E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D6120-F7EC-43BF-8A1F-5B6F9469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DFE26-0E9F-40CB-9576-A7C34C95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adaptive 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2972C-4BB7-47E8-9DAB-F86AA651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The controller scores demand and switches safely.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63A98-E7A8-4FC2-B27A-D7DD158F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The algorithm is intentionally explainable: queue pressure is weighted, but timing and emergency rules prevent unstable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CDFF5-B314-4D9E-B8AA-0DE93F19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476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9D8EF-CD2C-4A38-85E6-FDBF8349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716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Demand 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C1589-0F12-49FC-BC00-1C93F075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71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demand = 3 x queue + 2 x farOcc + 4 x nearOcc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E9FE3-0ECD-41D7-AB21-7C6D12AA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336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Queue length matters most; the near sensor has extra weight because it means a vehicle is at the stop line.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CA65B-61E8-40E7-81E5-B5525B25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71625"/>
            <a:ext cx="51911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9AFE2-42EA-4C28-B1FA-D9BDCD70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647825"/>
            <a:ext cx="4962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A72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A72D"/>
                </a:solidFill>
                <a:latin typeface="Aptos"/>
                <a:ea typeface="Aptos"/>
                <a:cs typeface="Aptos"/>
              </a:rPr>
              <a:t>TrafficTypes.h: exact demandScore() used by the firmware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0A9021-00EC-4E1B-A25E-EC6E6F7B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857375"/>
            <a:ext cx="4962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uint32_t queueWeight = telemetry.estimatedQueue * 3U;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uint32_t incomingWeight = telemetry.farOccupied ? 2U : 0U;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uint32_t stopLineWeight = telemetry.nearOccupied ? 4U : 0U;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return queueWeight + incomingWeight + stopLineWeight;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15D49-399D-4A7B-81A6-D2042F99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5000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85C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D6CA9-0B6C-4ECA-B0E5-A624667F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09950"/>
            <a:ext cx="477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C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5C4A"/>
                </a:solidFill>
                <a:latin typeface="Aptos"/>
                <a:ea typeface="Aptos"/>
                <a:cs typeface="Aptos"/>
              </a:rPr>
              <a:t>AdaptiveController.cpp: switching is allowed only after safe timing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EC0A4F-1929-44F6-B316-20D95822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4772025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bool canSwitch = phaseElapsedMs &gt;= config_.minGreenMs;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bool currentEmpty = !hasDemand(current);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bool otherBusy = hasDemand(other);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bool reachedMaxGreen = phaseElapsedMs &gt;= config_.maxGreenMs;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bool otherClearlyBusier =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demandScore(other) &gt; (demandScore(current) + config_.advantageMargin);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(canSwitch &amp;&amp; ((currentEmpty &amp;&amp; otherBusy) ||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(otherBusy &amp;&amp; otherClearlyBusier) || (reachedMaxGreen &amp;&amp; otherBusy))) {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beginYellow(other.side, nowMs);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2375A-24AB-4093-9FB2-824D842B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4667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C25E76-6472-4662-9B7A-7498149F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67100"/>
            <a:ext cx="432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Improvements added after problems appeared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AC69CE-034A-4D09-855F-531B2560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90950"/>
            <a:ext cx="42672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per-sensor threshold commands: set_thresholds 50 50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median-of-3 ultrasonic filtering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- 2-sample occupancy debounce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sensor health diagnostics: OK / WARN / FAIL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emergency button: 1 click = B, 2 clicks = A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stale Node A backup and recovery logging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BAF3F7-287C-4500-AEB2-CDC66625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Speaker message: the algorithm is not a black box. We can justify every number and explain every improvement as a response to measured behavior.</a:t>
            </a:r>
          </a:p>
        </p:txBody>
      </p:sp>
    </p:spTree>
    <p:extLst>
      <p:ext uri="{BB962C8B-B14F-4D97-AF65-F5344CB8AC3E}">
        <p14:creationId xmlns:p14="http://schemas.microsoft.com/office/powerpoint/2010/main" val="15777533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B988B6-77EB-4D98-9439-3C95E366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E423A-AD1E-4CA6-963F-48E4E925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9485A-073C-4E88-8E87-C3C9F27F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37E9C-1E23-4B4F-B123-35E109AB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7EC8E-852F-41FF-BEAC-2A33BD88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99125-D47B-4D21-BADB-76A9FE72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66119-CB3A-4901-900A-9B642B65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9B59E-3AFD-4CD5-85A4-53086BAE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9E97E-453C-4345-9E19-75CD41C1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communication before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8EEAC-5878-4911-8B51-47257969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Full packets became heartbeat mode.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0353F-513A-45D7-91BE-E28D410A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First we sent complete telemetry periodically; the improvement separates traffic data from node-alive signals.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168D3-DA1A-4FF2-9580-86A1AC51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762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42059-80C6-4A1D-B4C2-0AE7EE92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453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Before: full telemetry every 5 seconds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8C0B5-0612-4612-A3C9-CCF67828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53390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(nowMs - lastTelemetryMs &gt;= 5000) 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lastTelemetryMs = nowMs;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payload = encodeTelemetry(telemetry);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sendTelemetryOverLoRa(payload);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Old packet: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A,farOcc,nearOcc,incoming,passed,queue,timestamp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A,1,0,4,2,2,12345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A0C62-0E88-4563-B677-1369026C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24000"/>
            <a:ext cx="5000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F80EA-7973-4F84-A8F1-B902A674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00200"/>
            <a:ext cx="477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Problem: silence looked like failure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B2BF1-175F-4709-8B17-2D9D3DD4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809750"/>
            <a:ext cx="4772025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If packets stop, Node B cannot know why: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1) no cars, so Node A is quiet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2) Node A failed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3) LoRa link failed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(nowMs - lastRemoteRxMs &gt; timeoutMs) {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lastRemoteSource = "LORA_STALE";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backup = ON;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34199-4DD5-480A-8319-1C332AE0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3143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1"/>
          </a:solidFill>
          <a:ln xmlns:a="http://schemas.openxmlformats.org/drawingml/2006/main" w="9525">
            <a:solidFill>
              <a:srgbClr val="E85C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D7984E-6E93-4D05-8A07-24916306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9572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5C4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85C4A"/>
                </a:solidFill>
                <a:latin typeface="Georgia"/>
                <a:ea typeface="Georgia"/>
                <a:cs typeface="Georgia"/>
              </a:rPr>
              <a:t>What was missing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0C0A26-E91F-47C3-A791-A6C9AD44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27432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full packets even when nothing changed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silence could mean empty road or failure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 heartbeat meaning node alive / no traffic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 peak-hour low-traffic-message mode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B97DE-CACE-4294-BCE2-70E92337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62375"/>
            <a:ext cx="3143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3D9146-517F-49D1-9A66-01BBA49B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9572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Why that mattered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2AE3EA-8F7C-4009-B3BE-0795C120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19575"/>
            <a:ext cx="27432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LoRa traffic wastes energy when repeated state is unchanged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stale detection can conflict with energy saving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backup mode may activate even when the road is simply empty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we need reliability and energy saving together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64F6C-EC65-4A19-B8F8-2368BABE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62375"/>
            <a:ext cx="3143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4F5B75-09CE-43CF-8668-9254A02B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8145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Implemented transition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0B75BC-8807-4A47-8534-701287F6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815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Active mode sends full telemetry. Idle or peak-saturated mode sends heartbeat only every long period. Node B keeps controlling the LEDs locally, while heartbeat proves Node A is alive.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F1452C-C9DF-4FDC-9616-5963DD3D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Speaker message: the improvement is not just fewer packets. It separates traffic telemetry from health heartbeat, so energy saving does not break failure detection.</a:t>
            </a:r>
          </a:p>
        </p:txBody>
      </p:sp>
    </p:spTree>
    <p:extLst>
      <p:ext uri="{BB962C8B-B14F-4D97-AF65-F5344CB8AC3E}">
        <p14:creationId xmlns:p14="http://schemas.microsoft.com/office/powerpoint/2010/main" val="19212832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A179CE-5BB2-487C-8C88-0EB176C6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52083-FC89-453E-99D8-20A0265E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5F816-CB85-4055-95DC-C2E3A8E1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ADB29-B4FD-459C-85BB-8E429093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2FE37-4A50-47E9-A32A-8E5F740E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585CC-9C8C-47D3-8309-DDF9CC6D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0BD7B-CEB8-463F-847E-846EE298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8FC5F-CA6A-4B6E-AEAF-0B3A9B85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2266E-2E55-48D9-8A31-1D7C6CBB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communication after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6E0A2-8DEF-488B-869E-6D735E79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Improved communication carries state and health.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C69CA-38C8-49FD-B424-AAF2546F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Node B now separates full traffic telemetry from heartbeat packets, so low communication is not confused with failure.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2F8B2-CCF3-4E9C-9A7E-93E08C7B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5048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8AADC-9342-4504-B8CE-D8295DCC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Final packet format sent by Node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B2B71-E154-4050-9A9F-85BA36BC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8196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side,farOcc,nearOcc,incoming,passed,queue,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emergency,timestampMs,farDistanceCm,nearDistanceCm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Example: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A,1,0,4,2,2,0,12345,42.0,999.0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68CB2-8CE4-42C9-A92C-FB10FA47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47800"/>
            <a:ext cx="4810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8C992-5727-41FE-AA6E-0075AD17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524000"/>
            <a:ext cx="458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NodeMessaging.cpp: encodeTelemetry()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E0171B-B7A5-4A7D-8C25-D2B61DF2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733550"/>
            <a:ext cx="45815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return String(sideName(telemetry.side))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String(telemetry.farOccupied ? 1 : 0)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String(telemetry.nearOccupied ? 1 : 0)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String(telemetry.incomingCount)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String(telemetry.passedCount)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String(telemetry.estimatedQueue)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String(telemetry.emergencyRequested ? 1 : 0)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String(telemetry.timestampMs)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String(telemetry.farDistanceCm, 1)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String(telemetry.nearDistanceCm, 1);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05BFC-1F9E-411C-AC6D-401F418A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504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0ADEA-C98B-4D05-82D8-6B660AAA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A72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A72D"/>
                </a:solidFill>
                <a:latin typeface="Aptos"/>
                <a:ea typeface="Aptos"/>
                <a:cs typeface="Aptos"/>
              </a:rPr>
              <a:t>Node B: stale data becomes backup mode, not silent failure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4B0D6-28E6-459A-9A13-9051CF0A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4819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lowCommunicationExpected =</a:t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lastRemotePacketWasHeartbeat || !hasDemand(remoteTelemetry);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timeoutMs = lowCommunicationExpected</a:t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? kRemoteHeartbeatTimeoutMs   // 25 s</a:t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: kRemoteTelemetryTimeoutMs;  // 3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(lastRemoteRxMs == 0 || nowMs - lastRemoteRxMs &gt; timeoutMs) {</a:t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setNodeABackupActive(true, "NODE_A_STALE");</a:t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remoteTelemetryStale = true;</a:t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A5173-D121-4D05-A122-C91BA0BC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38500"/>
            <a:ext cx="4810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6B4E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508ED-50BA-4D24-91C4-C96B9751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14700"/>
            <a:ext cx="458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4E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4EFF"/>
                </a:solidFill>
                <a:latin typeface="Aptos"/>
                <a:ea typeface="Aptos"/>
                <a:cs typeface="Aptos"/>
              </a:rPr>
              <a:t>Implemented: telemetry vs heartbeat modes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FC23E9-9E5C-42DB-808A-1AE21205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24250"/>
            <a:ext cx="45815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(currentTxMode == ActiveTelemetry) {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sendFullTelemetryEvery(1000);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 else if (currentTxMode == IdleHeartbeat) {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sendTelemetryOnlyOnStateChange();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sendHeartbeatEvery(10000);      // H,A,I,timestamp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 else if (currentTxMode == PeakHeartbeat) {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sendHeartbeatEvery(15000);      // H,A,P,timestamp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 else {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setNodeABackupActive(true);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E44BEB-E24B-4EB9-B082-F8352345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4905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25A32B-B0B9-4461-81EE-E5666ABA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4562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Communication improvement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537F24-1785-46FE-BB53-31D132A2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53075"/>
            <a:ext cx="4505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full telemetry still carries distances, queue, emergency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heartbeat packets keep liveness while reducing repeated LoRa traffic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573F56-2F8F-490A-9293-72F52C95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095875"/>
            <a:ext cx="4810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36D44D-2F46-4DE8-BD8A-C57276EC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86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Important limitation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93ABB5-27DE-449D-83B7-503049FD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81650"/>
            <a:ext cx="419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This implementation reduces LoRa traffic, not sensor power. If Node A sleeps completely, HC-SR04 cannot wake it by itself; true wake-on-car needs a low-power detector.</a:t>
            </a:r>
          </a:p>
        </p:txBody>
      </p:sp>
    </p:spTree>
    <p:extLst>
      <p:ext uri="{BB962C8B-B14F-4D97-AF65-F5344CB8AC3E}">
        <p14:creationId xmlns:p14="http://schemas.microsoft.com/office/powerpoint/2010/main" val="2218343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139B9A-0F33-4B4C-8D67-9395333E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B6F59-7AE5-43C9-9BE8-ABDB6BD0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4EFE5-0405-4B8F-80B6-EDF71733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1E621-3C90-4AA6-AB7B-6F2042A6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50E1C-ED74-4DDE-AE49-B1EDECDB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09933-B398-4FF9-8C37-19F80959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4004F-FC09-4002-84D2-F17E3118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ABB66-898F-4B9A-87D0-F3830A62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25F97-13F8-45AA-8FCC-CFA16D05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power and duty cycling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5AD24-6F00-41A7-BF0E-75761275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Measured energy, reduced communication.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45147-2F44-4D87-907E-A7FFB889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INA219 gives the baseline; heartbeat and peak modes reduce repeated LoRa packets without hiding node failures.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CD5EA-6FB2-4C41-804D-D5A8F176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EDAFC-0546-4362-964F-616A3D6E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6FEB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F6FEB"/>
                </a:solidFill>
                <a:latin typeface="Georgia"/>
                <a:ea typeface="Georgia"/>
                <a:cs typeface="Georgia"/>
              </a:rPr>
              <a:t>123.0 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50991-3F8F-4A78-B686-0404082F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Node A measured average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C21451-2811-45E7-A84E-C9ED891B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76375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28531-962F-4EDE-B36E-492E81B6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621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174.8 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3DD7A-AFF0-452F-AE3C-28C88EAB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7642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Node B measured average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26A88-64CC-4767-9E2F-9946D703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76375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E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10CC5-FCB8-4C2A-B1AB-0504E12F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B4EFF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6B4EFF"/>
                </a:solidFill>
                <a:latin typeface="Georgia"/>
                <a:ea typeface="Georgia"/>
                <a:cs typeface="Georgia"/>
              </a:rPr>
              <a:t>297.9 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047A48-7F88-4679-BA0A-F35D3915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7642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combined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5B1A76-3A37-44F6-AA16-5B031845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76375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057950-220C-4ACC-8A6E-31BA2EC6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621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INA219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53A732-3A04-47C1-80E3-3976E4F0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7642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measured, not guessed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B34939-A555-4B95-81A4-9561D298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4095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6B4E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CE5F78-C6A9-4AC0-A576-AB9181DD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4E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4EFF"/>
                </a:solidFill>
                <a:latin typeface="Aptos"/>
                <a:ea typeface="Aptos"/>
                <a:cs typeface="Aptos"/>
              </a:rPr>
              <a:t>Current firmware: optional INA219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CA23A7-1D89-4234-BCC4-3C2F5561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8671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lastPowerReading = ina219Read();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Serial.print(" | power=");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(lastPowerReading.ok) {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Serial.print(lastPowerReading.currentMa, 1);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Serial.print("mA/");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Serial.print(lastPowerReading.powerMw, 1);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Serial.println("mW");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 else {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Serial.println("INA219_NA");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D1D96F-227C-4D97-9330-1F26C953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5667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4147B4-64C7-42EA-8C44-B3DBF6B9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552700"/>
            <a:ext cx="5438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Implemented improvement: communication duty cycle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6E67C6-276B-4D82-A373-AD94C88A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762250"/>
            <a:ext cx="543877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(currentTxMode == IdleHeartbeat) {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sendTelemetryOnlyOnStateChange();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sendHeartbeatEvery(10000);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 else if (currentTxMode == PeakHeartbeat) {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sendHeartbeatEvery(15000);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 else {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sendFullTelemetryEvery(1000);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F10F3A-ABDA-4CD9-BE54-F260196F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1"/>
          </a:solidFill>
          <a:ln xmlns:a="http://schemas.openxmlformats.org/drawingml/2006/main" w="9525">
            <a:solidFill>
              <a:srgbClr val="E85C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9D9B6C-1749-4155-97F0-82947E68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5C4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85C4A"/>
                </a:solidFill>
                <a:latin typeface="Georgia"/>
                <a:ea typeface="Georgia"/>
                <a:cs typeface="Georgia"/>
              </a:rPr>
              <a:t>Before improvement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3BBB27-E2B2-41F2-9A3F-354C86A8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274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fixed telemetry interval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continuous sensing and logging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Node B radio receive and LED load always active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baseline measured with INA219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87AA25-A07E-40EB-BC36-35598D7E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8625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10BCC0-C442-4EF7-816F-FA6438B3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4196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After implemented improvement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339A04-7B0F-4749-B373-3BD420BF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743450"/>
            <a:ext cx="274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full telemetry only when useful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heartbeat proves node is alive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longer failure timeout in low-communication mode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peak command/window reduces repeated packets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402748-D77A-42CF-B9BC-86F32EB5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3238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3956D1-7CED-4A34-B27B-C1AED2DF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Sleep mode tradeoff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C1464A-6CD0-4CB1-94DB-F7B654DE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10125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Periodic ESP sleep saves more energy, but can miss a car during sleep. Reliable wake-on-car needs an external low-power detector, then HC-SR04 confirms distance.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2C9D48-447B-4A25-AFAB-8A6E1AC5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Speaker message: the INA219 values are measured baseline values. The heartbeat/peak communication logic is implemented; the exact current reduction still needs a second INA219 measurement.</a:t>
            </a:r>
          </a:p>
        </p:txBody>
      </p:sp>
    </p:spTree>
    <p:extLst>
      <p:ext uri="{BB962C8B-B14F-4D97-AF65-F5344CB8AC3E}">
        <p14:creationId xmlns:p14="http://schemas.microsoft.com/office/powerpoint/2010/main" val="13307743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FD9BA7-0910-4AF3-9D23-2F51C5E4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AD5C8-AFBA-40AF-8647-593827CB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1BB03-2046-4727-90DF-2489B132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E6177-CCDC-4E98-A985-48CC5237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42DBB-534F-488D-B043-88500601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469FF-B301-4E66-B48C-56F53BC2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3A213-76FA-4BDD-859E-BF61C845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A886F-661A-4EA9-8A1A-CDD526EB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94F1A-3F79-40C2-9BB3-1850798F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simulators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9CF68-AA55-4275-8E4F-E5A0E3DC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The simulator became a real-data replay tool.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9ABA0-B6BB-4402-A734-9EA17289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We kept random/manual modes for testing, but the important final mode is CSV replay from the road run.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3A85E-C87B-4696-82A1-93B81983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4762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e310a582d4de5"/>
          <a:stretch xmlns:a="http://schemas.openxmlformats.org/drawingml/2006/main"/>
        </p:blipFill>
        <p:spPr>
          <a:xfrm xmlns:a="http://schemas.openxmlformats.org/drawingml/2006/main">
            <a:off x="675217" y="1581150"/>
            <a:ext cx="4555067" cy="25622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79616-D6EF-43B7-B65C-A81B7B9E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504950"/>
            <a:ext cx="2428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8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B4B7B-DB75-47CE-B37C-BBFAA007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638300"/>
            <a:ext cx="2085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9D8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2A9D8F"/>
                </a:solidFill>
                <a:latin typeface="Georgia"/>
                <a:ea typeface="Georgia"/>
                <a:cs typeface="Georgia"/>
              </a:rPr>
              <a:t>Simulator modes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9ABEB-7639-4179-8808-840578E8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962150"/>
            <a:ext cx="20288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CSV replay from road data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direct queue input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manual rates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random traffic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fixed scenarios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56D25-5559-4D38-95B0-8F292F82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04950"/>
            <a:ext cx="2428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B128A-BAEF-4541-B7CE-0DB81FE1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38300"/>
            <a:ext cx="2085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Why CSV replay matters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C8C68-E069-4358-837A-9F860793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62150"/>
            <a:ext cx="20288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uses real sensor demand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shows queues visually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compares adaptive vs fixed-time idea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connects IoT evidence to digital twin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4F9BE0-73C9-44D6-AD61-0DCE2AA5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095625"/>
            <a:ext cx="50958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580B7-BB29-4934-8D83-6294277D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171825"/>
            <a:ext cx="4867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simulation/visual_simulator.py: road CSV becomes replay frames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7F9AC-1522-415F-96D5-176CE021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381375"/>
            <a:ext cx="48672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frames = load_road_frames(path)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self.csv_status_var.set(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"CSV replay loaded: " + csv_status_line(frames, path)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CSV fields used: A/B queues, distances, phase, green side,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source=LORA_RADIO or LORA_STALE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09FB36-2445-4FE5-96BE-6DFE9946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1019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C1677C-4EE6-4354-94B2-91031728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How to say this honestly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5B0D7D-E3DB-4500-B45B-F1F0CB42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simulator does not replace field evidence. It replays the measured demand from the road CSV so we can visualize and compare the controller behavior against a fixed-time baseline. That is the digital twin connection.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8A70F3-3B80-4ADC-AF2F-437F8D15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End of software story: sensors -&gt; firmware -&gt; LoRa -&gt; controller -&gt; log -&gt; CSV -&gt; evaluation -&gt; replay.</a:t>
            </a:r>
          </a:p>
        </p:txBody>
      </p:sp>
    </p:spTree>
    <p:extLst>
      <p:ext uri="{BB962C8B-B14F-4D97-AF65-F5344CB8AC3E}">
        <p14:creationId xmlns:p14="http://schemas.microsoft.com/office/powerpoint/2010/main" val="1452932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2026-05-26T13:16:02.4060000Z</dcterms:created>
  <dcterms:modified xsi:type="dcterms:W3CDTF">2026-05-26T13:16:02.4060000Z</dcterms:modified>
</coreProperties>
</file>